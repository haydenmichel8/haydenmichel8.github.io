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256" r:id="rId2"/>
    <p:sldId id="274" r:id="rId3"/>
    <p:sldId id="261" r:id="rId4"/>
    <p:sldId id="267" r:id="rId5"/>
    <p:sldId id="275" r:id="rId6"/>
    <p:sldId id="276" r:id="rId7"/>
    <p:sldId id="277" r:id="rId8"/>
    <p:sldId id="266" r:id="rId9"/>
    <p:sldId id="270" r:id="rId10"/>
    <p:sldId id="265" r:id="rId11"/>
    <p:sldId id="271" r:id="rId12"/>
    <p:sldId id="273" r:id="rId13"/>
    <p:sldId id="269" r:id="rId14"/>
    <p:sldId id="272" r:id="rId15"/>
    <p:sldId id="279" r:id="rId16"/>
    <p:sldId id="280" r:id="rId17"/>
    <p:sldId id="281" r:id="rId18"/>
    <p:sldId id="283" r:id="rId19"/>
    <p:sldId id="284" r:id="rId20"/>
    <p:sldId id="285" r:id="rId21"/>
    <p:sldId id="286" r:id="rId22"/>
    <p:sldId id="287" r:id="rId23"/>
    <p:sldId id="288" r:id="rId24"/>
    <p:sldId id="289" r:id="rId25"/>
    <p:sldId id="290" r:id="rId26"/>
    <p:sldId id="25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E9DF91-7050-70D3-C340-CD8D223CAD87}" v="2" dt="2026-04-27T02:54:21.4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FB9F25-10B7-4AB3-8B4A-F8BDC6D0B297}"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3949EFAC-A8D5-49FB-B93C-C9F5EC285AF6}">
      <dgm:prSet custT="1"/>
      <dgm:spPr/>
      <dgm:t>
        <a:bodyPr/>
        <a:lstStyle/>
        <a:p>
          <a:pPr>
            <a:lnSpc>
              <a:spcPct val="100000"/>
            </a:lnSpc>
            <a:defRPr b="1"/>
          </a:pPr>
          <a:r>
            <a:rPr lang="en-US" sz="1800"/>
            <a:t>Physical Layer (PHY)</a:t>
          </a:r>
        </a:p>
      </dgm:t>
    </dgm:pt>
    <dgm:pt modelId="{4A910410-F613-41EF-A7A7-CA12319BC5DD}" type="parTrans" cxnId="{87A4015A-9BD5-403D-B43F-41769B208B13}">
      <dgm:prSet/>
      <dgm:spPr/>
      <dgm:t>
        <a:bodyPr/>
        <a:lstStyle/>
        <a:p>
          <a:endParaRPr lang="en-US"/>
        </a:p>
      </dgm:t>
    </dgm:pt>
    <dgm:pt modelId="{21577E43-0DE4-4515-B138-38F11B98C1A3}" type="sibTrans" cxnId="{87A4015A-9BD5-403D-B43F-41769B208B13}">
      <dgm:prSet/>
      <dgm:spPr/>
      <dgm:t>
        <a:bodyPr/>
        <a:lstStyle/>
        <a:p>
          <a:endParaRPr lang="en-US"/>
        </a:p>
      </dgm:t>
    </dgm:pt>
    <dgm:pt modelId="{A70966B9-9288-4D5C-BF05-A0D926F720BF}">
      <dgm:prSet custT="1"/>
      <dgm:spPr/>
      <dgm:t>
        <a:bodyPr/>
        <a:lstStyle/>
        <a:p>
          <a:pPr>
            <a:lnSpc>
              <a:spcPct val="100000"/>
            </a:lnSpc>
          </a:pPr>
          <a:r>
            <a:rPr lang="en-US" sz="1600"/>
            <a:t>Outlines requirements for hardware (LE radio) used in data transmission and reception over the air.</a:t>
          </a:r>
        </a:p>
      </dgm:t>
    </dgm:pt>
    <dgm:pt modelId="{E60FE279-EFDE-4DC0-9D27-F2232A414F3D}" type="parTrans" cxnId="{8735A415-7143-4BEB-8C2B-00857F3C4F43}">
      <dgm:prSet/>
      <dgm:spPr/>
      <dgm:t>
        <a:bodyPr/>
        <a:lstStyle/>
        <a:p>
          <a:endParaRPr lang="en-US"/>
        </a:p>
      </dgm:t>
    </dgm:pt>
    <dgm:pt modelId="{CCFE6056-F8EB-4334-9A57-FFEB9329A47F}" type="sibTrans" cxnId="{8735A415-7143-4BEB-8C2B-00857F3C4F43}">
      <dgm:prSet/>
      <dgm:spPr/>
      <dgm:t>
        <a:bodyPr/>
        <a:lstStyle/>
        <a:p>
          <a:endParaRPr lang="en-US"/>
        </a:p>
      </dgm:t>
    </dgm:pt>
    <dgm:pt modelId="{E87F9D0E-D004-4D82-82E2-099888D8D8AC}">
      <dgm:prSet custT="1"/>
      <dgm:spPr/>
      <dgm:t>
        <a:bodyPr/>
        <a:lstStyle/>
        <a:p>
          <a:pPr>
            <a:lnSpc>
              <a:spcPct val="100000"/>
            </a:lnSpc>
            <a:defRPr b="1"/>
          </a:pPr>
          <a:r>
            <a:rPr lang="en-US" sz="1800"/>
            <a:t>Link Layer</a:t>
          </a:r>
        </a:p>
      </dgm:t>
    </dgm:pt>
    <dgm:pt modelId="{6865C47E-F759-4B2F-8754-67490A39F632}" type="parTrans" cxnId="{3A89F92A-3F40-4F7E-8363-067512EA70D0}">
      <dgm:prSet/>
      <dgm:spPr/>
      <dgm:t>
        <a:bodyPr/>
        <a:lstStyle/>
        <a:p>
          <a:endParaRPr lang="en-US"/>
        </a:p>
      </dgm:t>
    </dgm:pt>
    <dgm:pt modelId="{73EB2D82-1FE1-4F21-A7BC-3EC49F6E550A}" type="sibTrans" cxnId="{3A89F92A-3F40-4F7E-8363-067512EA70D0}">
      <dgm:prSet/>
      <dgm:spPr/>
      <dgm:t>
        <a:bodyPr/>
        <a:lstStyle/>
        <a:p>
          <a:endParaRPr lang="en-US"/>
        </a:p>
      </dgm:t>
    </dgm:pt>
    <dgm:pt modelId="{1CDD415E-211D-43E9-8E21-4CAA22DE6626}">
      <dgm:prSet custT="1"/>
      <dgm:spPr/>
      <dgm:t>
        <a:bodyPr/>
        <a:lstStyle/>
        <a:p>
          <a:pPr>
            <a:lnSpc>
              <a:spcPct val="100000"/>
            </a:lnSpc>
          </a:pPr>
          <a:r>
            <a:rPr lang="en-US" sz="1600"/>
            <a:t>In charge of setting up LE radio to create communication links according to the kind of communication.</a:t>
          </a:r>
        </a:p>
      </dgm:t>
    </dgm:pt>
    <dgm:pt modelId="{B92BE446-F17C-47D2-B197-9E62152A49E9}" type="parTrans" cxnId="{A2A3F7C5-E3FF-40A3-B628-940A766BEF95}">
      <dgm:prSet/>
      <dgm:spPr/>
      <dgm:t>
        <a:bodyPr/>
        <a:lstStyle/>
        <a:p>
          <a:endParaRPr lang="en-US"/>
        </a:p>
      </dgm:t>
    </dgm:pt>
    <dgm:pt modelId="{23EEE724-C7A6-4DBC-9BFE-B8E902336D13}" type="sibTrans" cxnId="{A2A3F7C5-E3FF-40A3-B628-940A766BEF95}">
      <dgm:prSet/>
      <dgm:spPr/>
      <dgm:t>
        <a:bodyPr/>
        <a:lstStyle/>
        <a:p>
          <a:endParaRPr lang="en-US"/>
        </a:p>
      </dgm:t>
    </dgm:pt>
    <dgm:pt modelId="{2DD607A5-00F7-42E9-A390-E61C71761C37}">
      <dgm:prSet custT="1"/>
      <dgm:spPr/>
      <dgm:t>
        <a:bodyPr/>
        <a:lstStyle/>
        <a:p>
          <a:pPr>
            <a:lnSpc>
              <a:spcPct val="100000"/>
            </a:lnSpc>
            <a:defRPr b="1"/>
          </a:pPr>
          <a:r>
            <a:rPr lang="en-US" sz="1800"/>
            <a:t>Host Controller Interface (HCI) Layer</a:t>
          </a:r>
        </a:p>
      </dgm:t>
    </dgm:pt>
    <dgm:pt modelId="{13E63371-63CE-4D1C-BACE-51A754D4C162}" type="parTrans" cxnId="{9713C2F1-86FD-4DDE-B0B7-EB39B8BC74C1}">
      <dgm:prSet/>
      <dgm:spPr/>
      <dgm:t>
        <a:bodyPr/>
        <a:lstStyle/>
        <a:p>
          <a:endParaRPr lang="en-US"/>
        </a:p>
      </dgm:t>
    </dgm:pt>
    <dgm:pt modelId="{7AF776F3-703A-4610-AE8B-3C2B49510F7D}" type="sibTrans" cxnId="{9713C2F1-86FD-4DDE-B0B7-EB39B8BC74C1}">
      <dgm:prSet/>
      <dgm:spPr/>
      <dgm:t>
        <a:bodyPr/>
        <a:lstStyle/>
        <a:p>
          <a:endParaRPr lang="en-US"/>
        </a:p>
      </dgm:t>
    </dgm:pt>
    <dgm:pt modelId="{9F5D2E8F-B37F-4121-8188-CBBD34B1E077}">
      <dgm:prSet custT="1"/>
      <dgm:spPr/>
      <dgm:t>
        <a:bodyPr/>
        <a:lstStyle/>
        <a:p>
          <a:pPr>
            <a:lnSpc>
              <a:spcPct val="100000"/>
            </a:lnSpc>
          </a:pPr>
          <a:r>
            <a:rPr lang="en-US" sz="1600"/>
            <a:t>Serves as an interface between host's higher-level protocols and controller's lower-level protocols.</a:t>
          </a:r>
        </a:p>
      </dgm:t>
    </dgm:pt>
    <dgm:pt modelId="{E4AC4E3D-39CA-4053-A640-9290A3CEDB05}" type="parTrans" cxnId="{2D3EAD10-C4E6-4AA6-9A76-1F06D531C6BA}">
      <dgm:prSet/>
      <dgm:spPr/>
      <dgm:t>
        <a:bodyPr/>
        <a:lstStyle/>
        <a:p>
          <a:endParaRPr lang="en-US"/>
        </a:p>
      </dgm:t>
    </dgm:pt>
    <dgm:pt modelId="{BA98BC83-B861-4FE2-9383-A7CA034106A0}" type="sibTrans" cxnId="{2D3EAD10-C4E6-4AA6-9A76-1F06D531C6BA}">
      <dgm:prSet/>
      <dgm:spPr/>
      <dgm:t>
        <a:bodyPr/>
        <a:lstStyle/>
        <a:p>
          <a:endParaRPr lang="en-US"/>
        </a:p>
      </dgm:t>
    </dgm:pt>
    <dgm:pt modelId="{A5EC75EA-23E7-4287-9A2C-E591EC0714A3}">
      <dgm:prSet custT="1"/>
      <dgm:spPr/>
      <dgm:t>
        <a:bodyPr/>
        <a:lstStyle/>
        <a:p>
          <a:pPr>
            <a:lnSpc>
              <a:spcPct val="100000"/>
            </a:lnSpc>
            <a:defRPr b="1"/>
          </a:pPr>
          <a:r>
            <a:rPr lang="en-US" sz="1800"/>
            <a:t>Logical Link Control &amp; Adaptation Protocol Layer (L2CAP)</a:t>
          </a:r>
        </a:p>
      </dgm:t>
    </dgm:pt>
    <dgm:pt modelId="{2FD05104-3006-4928-A064-EC99802DD49F}" type="parTrans" cxnId="{BFC9DA41-B444-4862-BC17-93E1E8068B17}">
      <dgm:prSet/>
      <dgm:spPr/>
      <dgm:t>
        <a:bodyPr/>
        <a:lstStyle/>
        <a:p>
          <a:endParaRPr lang="en-US"/>
        </a:p>
      </dgm:t>
    </dgm:pt>
    <dgm:pt modelId="{4BB22016-89C9-4552-BB72-C1DA32D8C51F}" type="sibTrans" cxnId="{BFC9DA41-B444-4862-BC17-93E1E8068B17}">
      <dgm:prSet/>
      <dgm:spPr/>
      <dgm:t>
        <a:bodyPr/>
        <a:lstStyle/>
        <a:p>
          <a:endParaRPr lang="en-US"/>
        </a:p>
      </dgm:t>
    </dgm:pt>
    <dgm:pt modelId="{D2C86536-D271-4741-9158-AD08E43FEF3B}">
      <dgm:prSet custT="1"/>
      <dgm:spPr/>
      <dgm:t>
        <a:bodyPr/>
        <a:lstStyle/>
        <a:p>
          <a:pPr>
            <a:lnSpc>
              <a:spcPct val="100000"/>
            </a:lnSpc>
          </a:pPr>
          <a:r>
            <a:rPr lang="en-US" sz="1600"/>
            <a:t>Facilitates communication between BLE stack's top and bottom layers.</a:t>
          </a:r>
        </a:p>
      </dgm:t>
    </dgm:pt>
    <dgm:pt modelId="{BEF433DE-B2C5-4BF8-94BB-60C6AE28CAAF}" type="parTrans" cxnId="{ACD9F3F0-E215-4D78-BA07-6FAAF0BB80E8}">
      <dgm:prSet/>
      <dgm:spPr/>
      <dgm:t>
        <a:bodyPr/>
        <a:lstStyle/>
        <a:p>
          <a:endParaRPr lang="en-US"/>
        </a:p>
      </dgm:t>
    </dgm:pt>
    <dgm:pt modelId="{E201CF42-4EE2-4F60-BDCE-7B2C3E49822D}" type="sibTrans" cxnId="{ACD9F3F0-E215-4D78-BA07-6FAAF0BB80E8}">
      <dgm:prSet/>
      <dgm:spPr/>
      <dgm:t>
        <a:bodyPr/>
        <a:lstStyle/>
        <a:p>
          <a:endParaRPr lang="en-US"/>
        </a:p>
      </dgm:t>
    </dgm:pt>
    <dgm:pt modelId="{98D2CA66-A4AD-44BF-8491-3409416588B9}" type="pres">
      <dgm:prSet presAssocID="{97FB9F25-10B7-4AB3-8B4A-F8BDC6D0B297}" presName="root" presStyleCnt="0">
        <dgm:presLayoutVars>
          <dgm:dir/>
          <dgm:resizeHandles val="exact"/>
        </dgm:presLayoutVars>
      </dgm:prSet>
      <dgm:spPr/>
    </dgm:pt>
    <dgm:pt modelId="{6910BB44-1BB9-42C3-9C4B-ED95506E747B}" type="pres">
      <dgm:prSet presAssocID="{3949EFAC-A8D5-49FB-B93C-C9F5EC285AF6}" presName="compNode" presStyleCnt="0"/>
      <dgm:spPr/>
    </dgm:pt>
    <dgm:pt modelId="{95CF26F1-C2D4-4EEC-89BE-3F0F7026169F}" type="pres">
      <dgm:prSet presAssocID="{3949EFAC-A8D5-49FB-B93C-C9F5EC285AF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atellite dish"/>
        </a:ext>
      </dgm:extLst>
    </dgm:pt>
    <dgm:pt modelId="{9928E452-FE7C-4CEE-9091-6CC2E96BE6B5}" type="pres">
      <dgm:prSet presAssocID="{3949EFAC-A8D5-49FB-B93C-C9F5EC285AF6}" presName="iconSpace" presStyleCnt="0"/>
      <dgm:spPr/>
    </dgm:pt>
    <dgm:pt modelId="{9E305D27-FE72-4EA3-ACA3-FC94ECBD3BB8}" type="pres">
      <dgm:prSet presAssocID="{3949EFAC-A8D5-49FB-B93C-C9F5EC285AF6}" presName="parTx" presStyleLbl="revTx" presStyleIdx="0" presStyleCnt="8">
        <dgm:presLayoutVars>
          <dgm:chMax val="0"/>
          <dgm:chPref val="0"/>
        </dgm:presLayoutVars>
      </dgm:prSet>
      <dgm:spPr/>
    </dgm:pt>
    <dgm:pt modelId="{86CA28DB-3169-4ACF-A11E-E6BB42C2ADCF}" type="pres">
      <dgm:prSet presAssocID="{3949EFAC-A8D5-49FB-B93C-C9F5EC285AF6}" presName="txSpace" presStyleCnt="0"/>
      <dgm:spPr/>
    </dgm:pt>
    <dgm:pt modelId="{EE1C5014-95D3-4478-8423-933176A4F9EE}" type="pres">
      <dgm:prSet presAssocID="{3949EFAC-A8D5-49FB-B93C-C9F5EC285AF6}" presName="desTx" presStyleLbl="revTx" presStyleIdx="1" presStyleCnt="8">
        <dgm:presLayoutVars/>
      </dgm:prSet>
      <dgm:spPr/>
    </dgm:pt>
    <dgm:pt modelId="{05F8B105-5037-493E-8366-31CDB1D5219C}" type="pres">
      <dgm:prSet presAssocID="{21577E43-0DE4-4515-B138-38F11B98C1A3}" presName="sibTrans" presStyleCnt="0"/>
      <dgm:spPr/>
    </dgm:pt>
    <dgm:pt modelId="{DB259ABC-D241-406D-9319-20D555BA098A}" type="pres">
      <dgm:prSet presAssocID="{E87F9D0E-D004-4D82-82E2-099888D8D8AC}" presName="compNode" presStyleCnt="0"/>
      <dgm:spPr/>
    </dgm:pt>
    <dgm:pt modelId="{48891417-24B2-4107-B147-1EB83325044A}" type="pres">
      <dgm:prSet presAssocID="{E87F9D0E-D004-4D82-82E2-099888D8D8A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a:ext>
      </dgm:extLst>
    </dgm:pt>
    <dgm:pt modelId="{6C60F101-C7E5-4E69-8767-70DCAE10D69C}" type="pres">
      <dgm:prSet presAssocID="{E87F9D0E-D004-4D82-82E2-099888D8D8AC}" presName="iconSpace" presStyleCnt="0"/>
      <dgm:spPr/>
    </dgm:pt>
    <dgm:pt modelId="{B9EAD535-7A8A-4E96-BFC8-DB8DA0FE7552}" type="pres">
      <dgm:prSet presAssocID="{E87F9D0E-D004-4D82-82E2-099888D8D8AC}" presName="parTx" presStyleLbl="revTx" presStyleIdx="2" presStyleCnt="8">
        <dgm:presLayoutVars>
          <dgm:chMax val="0"/>
          <dgm:chPref val="0"/>
        </dgm:presLayoutVars>
      </dgm:prSet>
      <dgm:spPr/>
    </dgm:pt>
    <dgm:pt modelId="{70DD1D3F-1A4B-4BE0-AB7C-9647806304FF}" type="pres">
      <dgm:prSet presAssocID="{E87F9D0E-D004-4D82-82E2-099888D8D8AC}" presName="txSpace" presStyleCnt="0"/>
      <dgm:spPr/>
    </dgm:pt>
    <dgm:pt modelId="{2F1ADEBB-AFF0-438C-9D0D-D1D42DE18556}" type="pres">
      <dgm:prSet presAssocID="{E87F9D0E-D004-4D82-82E2-099888D8D8AC}" presName="desTx" presStyleLbl="revTx" presStyleIdx="3" presStyleCnt="8">
        <dgm:presLayoutVars/>
      </dgm:prSet>
      <dgm:spPr/>
    </dgm:pt>
    <dgm:pt modelId="{F74A1B46-0994-4BB6-B6FA-17CB729467E1}" type="pres">
      <dgm:prSet presAssocID="{73EB2D82-1FE1-4F21-A7BC-3EC49F6E550A}" presName="sibTrans" presStyleCnt="0"/>
      <dgm:spPr/>
    </dgm:pt>
    <dgm:pt modelId="{F7E38949-18BF-40ED-A70A-3DEB54B8A6D2}" type="pres">
      <dgm:prSet presAssocID="{2DD607A5-00F7-42E9-A390-E61C71761C37}" presName="compNode" presStyleCnt="0"/>
      <dgm:spPr/>
    </dgm:pt>
    <dgm:pt modelId="{F2EB871E-A980-4F3E-B706-9C5DA7F11538}" type="pres">
      <dgm:prSet presAssocID="{2DD607A5-00F7-42E9-A390-E61C71761C3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erver"/>
        </a:ext>
      </dgm:extLst>
    </dgm:pt>
    <dgm:pt modelId="{60068080-CA51-4A1D-AFAB-A893392EC0FA}" type="pres">
      <dgm:prSet presAssocID="{2DD607A5-00F7-42E9-A390-E61C71761C37}" presName="iconSpace" presStyleCnt="0"/>
      <dgm:spPr/>
    </dgm:pt>
    <dgm:pt modelId="{02724811-2D99-471A-B866-AD1BD2BE78AF}" type="pres">
      <dgm:prSet presAssocID="{2DD607A5-00F7-42E9-A390-E61C71761C37}" presName="parTx" presStyleLbl="revTx" presStyleIdx="4" presStyleCnt="8">
        <dgm:presLayoutVars>
          <dgm:chMax val="0"/>
          <dgm:chPref val="0"/>
        </dgm:presLayoutVars>
      </dgm:prSet>
      <dgm:spPr/>
    </dgm:pt>
    <dgm:pt modelId="{2B95DA9B-BD6C-40A7-B1BD-24C1F38A47F9}" type="pres">
      <dgm:prSet presAssocID="{2DD607A5-00F7-42E9-A390-E61C71761C37}" presName="txSpace" presStyleCnt="0"/>
      <dgm:spPr/>
    </dgm:pt>
    <dgm:pt modelId="{17E8E44F-5AFC-48F8-8D4A-B7DA1D989304}" type="pres">
      <dgm:prSet presAssocID="{2DD607A5-00F7-42E9-A390-E61C71761C37}" presName="desTx" presStyleLbl="revTx" presStyleIdx="5" presStyleCnt="8">
        <dgm:presLayoutVars/>
      </dgm:prSet>
      <dgm:spPr/>
    </dgm:pt>
    <dgm:pt modelId="{BC941EE9-BB63-4D73-9FAE-6063AAAC23AA}" type="pres">
      <dgm:prSet presAssocID="{7AF776F3-703A-4610-AE8B-3C2B49510F7D}" presName="sibTrans" presStyleCnt="0"/>
      <dgm:spPr/>
    </dgm:pt>
    <dgm:pt modelId="{B51BE266-D287-42AC-9E76-891A317F46D4}" type="pres">
      <dgm:prSet presAssocID="{A5EC75EA-23E7-4287-9A2C-E591EC0714A3}" presName="compNode" presStyleCnt="0"/>
      <dgm:spPr/>
    </dgm:pt>
    <dgm:pt modelId="{440E54AF-17A6-438B-A2D8-F645B8C795E8}" type="pres">
      <dgm:prSet presAssocID="{A5EC75EA-23E7-4287-9A2C-E591EC0714A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work Diagram"/>
        </a:ext>
      </dgm:extLst>
    </dgm:pt>
    <dgm:pt modelId="{19472471-B495-4D20-BEFE-C813EB144D7C}" type="pres">
      <dgm:prSet presAssocID="{A5EC75EA-23E7-4287-9A2C-E591EC0714A3}" presName="iconSpace" presStyleCnt="0"/>
      <dgm:spPr/>
    </dgm:pt>
    <dgm:pt modelId="{DF53F77F-DAFD-4C9E-A029-59BE3092A963}" type="pres">
      <dgm:prSet presAssocID="{A5EC75EA-23E7-4287-9A2C-E591EC0714A3}" presName="parTx" presStyleLbl="revTx" presStyleIdx="6" presStyleCnt="8">
        <dgm:presLayoutVars>
          <dgm:chMax val="0"/>
          <dgm:chPref val="0"/>
        </dgm:presLayoutVars>
      </dgm:prSet>
      <dgm:spPr/>
    </dgm:pt>
    <dgm:pt modelId="{52975767-1E07-44BB-AF9A-A432D9B7E4AF}" type="pres">
      <dgm:prSet presAssocID="{A5EC75EA-23E7-4287-9A2C-E591EC0714A3}" presName="txSpace" presStyleCnt="0"/>
      <dgm:spPr/>
    </dgm:pt>
    <dgm:pt modelId="{705EDEAA-2811-4D75-AD28-0F446E31203E}" type="pres">
      <dgm:prSet presAssocID="{A5EC75EA-23E7-4287-9A2C-E591EC0714A3}" presName="desTx" presStyleLbl="revTx" presStyleIdx="7" presStyleCnt="8">
        <dgm:presLayoutVars/>
      </dgm:prSet>
      <dgm:spPr/>
    </dgm:pt>
  </dgm:ptLst>
  <dgm:cxnLst>
    <dgm:cxn modelId="{2D3EAD10-C4E6-4AA6-9A76-1F06D531C6BA}" srcId="{2DD607A5-00F7-42E9-A390-E61C71761C37}" destId="{9F5D2E8F-B37F-4121-8188-CBBD34B1E077}" srcOrd="0" destOrd="0" parTransId="{E4AC4E3D-39CA-4053-A640-9290A3CEDB05}" sibTransId="{BA98BC83-B861-4FE2-9383-A7CA034106A0}"/>
    <dgm:cxn modelId="{8735A415-7143-4BEB-8C2B-00857F3C4F43}" srcId="{3949EFAC-A8D5-49FB-B93C-C9F5EC285AF6}" destId="{A70966B9-9288-4D5C-BF05-A0D926F720BF}" srcOrd="0" destOrd="0" parTransId="{E60FE279-EFDE-4DC0-9D27-F2232A414F3D}" sibTransId="{CCFE6056-F8EB-4334-9A57-FFEB9329A47F}"/>
    <dgm:cxn modelId="{3A89F92A-3F40-4F7E-8363-067512EA70D0}" srcId="{97FB9F25-10B7-4AB3-8B4A-F8BDC6D0B297}" destId="{E87F9D0E-D004-4D82-82E2-099888D8D8AC}" srcOrd="1" destOrd="0" parTransId="{6865C47E-F759-4B2F-8754-67490A39F632}" sibTransId="{73EB2D82-1FE1-4F21-A7BC-3EC49F6E550A}"/>
    <dgm:cxn modelId="{06FC3E3B-DE56-4EEE-9C0E-DB93DDA7FCD7}" type="presOf" srcId="{2DD607A5-00F7-42E9-A390-E61C71761C37}" destId="{02724811-2D99-471A-B866-AD1BD2BE78AF}" srcOrd="0" destOrd="0" presId="urn:microsoft.com/office/officeart/2018/5/layout/CenteredIconLabelDescriptionList"/>
    <dgm:cxn modelId="{D3153C5D-7772-48D8-AC9D-42D8507189A9}" type="presOf" srcId="{E87F9D0E-D004-4D82-82E2-099888D8D8AC}" destId="{B9EAD535-7A8A-4E96-BFC8-DB8DA0FE7552}" srcOrd="0" destOrd="0" presId="urn:microsoft.com/office/officeart/2018/5/layout/CenteredIconLabelDescriptionList"/>
    <dgm:cxn modelId="{BFC9DA41-B444-4862-BC17-93E1E8068B17}" srcId="{97FB9F25-10B7-4AB3-8B4A-F8BDC6D0B297}" destId="{A5EC75EA-23E7-4287-9A2C-E591EC0714A3}" srcOrd="3" destOrd="0" parTransId="{2FD05104-3006-4928-A064-EC99802DD49F}" sibTransId="{4BB22016-89C9-4552-BB72-C1DA32D8C51F}"/>
    <dgm:cxn modelId="{267FAC48-EE41-4638-9104-87BC7C2C33C1}" type="presOf" srcId="{D2C86536-D271-4741-9158-AD08E43FEF3B}" destId="{705EDEAA-2811-4D75-AD28-0F446E31203E}" srcOrd="0" destOrd="0" presId="urn:microsoft.com/office/officeart/2018/5/layout/CenteredIconLabelDescriptionList"/>
    <dgm:cxn modelId="{7209164B-0062-4152-93CD-C210DE7BFF3E}" type="presOf" srcId="{9F5D2E8F-B37F-4121-8188-CBBD34B1E077}" destId="{17E8E44F-5AFC-48F8-8D4A-B7DA1D989304}" srcOrd="0" destOrd="0" presId="urn:microsoft.com/office/officeart/2018/5/layout/CenteredIconLabelDescriptionList"/>
    <dgm:cxn modelId="{21E7EB4E-D9B5-4953-8E54-DE34F9E0EA2F}" type="presOf" srcId="{3949EFAC-A8D5-49FB-B93C-C9F5EC285AF6}" destId="{9E305D27-FE72-4EA3-ACA3-FC94ECBD3BB8}" srcOrd="0" destOrd="0" presId="urn:microsoft.com/office/officeart/2018/5/layout/CenteredIconLabelDescriptionList"/>
    <dgm:cxn modelId="{87A4015A-9BD5-403D-B43F-41769B208B13}" srcId="{97FB9F25-10B7-4AB3-8B4A-F8BDC6D0B297}" destId="{3949EFAC-A8D5-49FB-B93C-C9F5EC285AF6}" srcOrd="0" destOrd="0" parTransId="{4A910410-F613-41EF-A7A7-CA12319BC5DD}" sibTransId="{21577E43-0DE4-4515-B138-38F11B98C1A3}"/>
    <dgm:cxn modelId="{BBFD67A3-7B0B-428E-8605-24DAFA99270D}" type="presOf" srcId="{A5EC75EA-23E7-4287-9A2C-E591EC0714A3}" destId="{DF53F77F-DAFD-4C9E-A029-59BE3092A963}" srcOrd="0" destOrd="0" presId="urn:microsoft.com/office/officeart/2018/5/layout/CenteredIconLabelDescriptionList"/>
    <dgm:cxn modelId="{A4486ABC-B263-4B07-9F71-2467D1E26AF4}" type="presOf" srcId="{A70966B9-9288-4D5C-BF05-A0D926F720BF}" destId="{EE1C5014-95D3-4478-8423-933176A4F9EE}" srcOrd="0" destOrd="0" presId="urn:microsoft.com/office/officeart/2018/5/layout/CenteredIconLabelDescriptionList"/>
    <dgm:cxn modelId="{D4B957BC-62F0-461D-A2D2-9A47356A4E30}" type="presOf" srcId="{97FB9F25-10B7-4AB3-8B4A-F8BDC6D0B297}" destId="{98D2CA66-A4AD-44BF-8491-3409416588B9}" srcOrd="0" destOrd="0" presId="urn:microsoft.com/office/officeart/2018/5/layout/CenteredIconLabelDescriptionList"/>
    <dgm:cxn modelId="{A2A3F7C5-E3FF-40A3-B628-940A766BEF95}" srcId="{E87F9D0E-D004-4D82-82E2-099888D8D8AC}" destId="{1CDD415E-211D-43E9-8E21-4CAA22DE6626}" srcOrd="0" destOrd="0" parTransId="{B92BE446-F17C-47D2-B197-9E62152A49E9}" sibTransId="{23EEE724-C7A6-4DBC-9BFE-B8E902336D13}"/>
    <dgm:cxn modelId="{78B847EA-9F50-4299-BA61-25DCBBAE5532}" type="presOf" srcId="{1CDD415E-211D-43E9-8E21-4CAA22DE6626}" destId="{2F1ADEBB-AFF0-438C-9D0D-D1D42DE18556}" srcOrd="0" destOrd="0" presId="urn:microsoft.com/office/officeart/2018/5/layout/CenteredIconLabelDescriptionList"/>
    <dgm:cxn modelId="{ACD9F3F0-E215-4D78-BA07-6FAAF0BB80E8}" srcId="{A5EC75EA-23E7-4287-9A2C-E591EC0714A3}" destId="{D2C86536-D271-4741-9158-AD08E43FEF3B}" srcOrd="0" destOrd="0" parTransId="{BEF433DE-B2C5-4BF8-94BB-60C6AE28CAAF}" sibTransId="{E201CF42-4EE2-4F60-BDCE-7B2C3E49822D}"/>
    <dgm:cxn modelId="{9713C2F1-86FD-4DDE-B0B7-EB39B8BC74C1}" srcId="{97FB9F25-10B7-4AB3-8B4A-F8BDC6D0B297}" destId="{2DD607A5-00F7-42E9-A390-E61C71761C37}" srcOrd="2" destOrd="0" parTransId="{13E63371-63CE-4D1C-BACE-51A754D4C162}" sibTransId="{7AF776F3-703A-4610-AE8B-3C2B49510F7D}"/>
    <dgm:cxn modelId="{E9213517-75BB-4284-89F0-8AE7F6B5CCD1}" type="presParOf" srcId="{98D2CA66-A4AD-44BF-8491-3409416588B9}" destId="{6910BB44-1BB9-42C3-9C4B-ED95506E747B}" srcOrd="0" destOrd="0" presId="urn:microsoft.com/office/officeart/2018/5/layout/CenteredIconLabelDescriptionList"/>
    <dgm:cxn modelId="{70B2F5E5-E349-407F-886F-B4DC2370D6FA}" type="presParOf" srcId="{6910BB44-1BB9-42C3-9C4B-ED95506E747B}" destId="{95CF26F1-C2D4-4EEC-89BE-3F0F7026169F}" srcOrd="0" destOrd="0" presId="urn:microsoft.com/office/officeart/2018/5/layout/CenteredIconLabelDescriptionList"/>
    <dgm:cxn modelId="{85D02FD4-21E1-4FE4-90B9-4EB106A04C21}" type="presParOf" srcId="{6910BB44-1BB9-42C3-9C4B-ED95506E747B}" destId="{9928E452-FE7C-4CEE-9091-6CC2E96BE6B5}" srcOrd="1" destOrd="0" presId="urn:microsoft.com/office/officeart/2018/5/layout/CenteredIconLabelDescriptionList"/>
    <dgm:cxn modelId="{67BAA34F-6127-40F8-8468-1F39BB1C5AFD}" type="presParOf" srcId="{6910BB44-1BB9-42C3-9C4B-ED95506E747B}" destId="{9E305D27-FE72-4EA3-ACA3-FC94ECBD3BB8}" srcOrd="2" destOrd="0" presId="urn:microsoft.com/office/officeart/2018/5/layout/CenteredIconLabelDescriptionList"/>
    <dgm:cxn modelId="{1DBAB32A-E254-4179-978D-18B45AD16CDD}" type="presParOf" srcId="{6910BB44-1BB9-42C3-9C4B-ED95506E747B}" destId="{86CA28DB-3169-4ACF-A11E-E6BB42C2ADCF}" srcOrd="3" destOrd="0" presId="urn:microsoft.com/office/officeart/2018/5/layout/CenteredIconLabelDescriptionList"/>
    <dgm:cxn modelId="{B52225AE-C328-40A3-AE87-959F8A5D9E74}" type="presParOf" srcId="{6910BB44-1BB9-42C3-9C4B-ED95506E747B}" destId="{EE1C5014-95D3-4478-8423-933176A4F9EE}" srcOrd="4" destOrd="0" presId="urn:microsoft.com/office/officeart/2018/5/layout/CenteredIconLabelDescriptionList"/>
    <dgm:cxn modelId="{BCAD1034-A537-4EC8-863D-4D465DACC3CF}" type="presParOf" srcId="{98D2CA66-A4AD-44BF-8491-3409416588B9}" destId="{05F8B105-5037-493E-8366-31CDB1D5219C}" srcOrd="1" destOrd="0" presId="urn:microsoft.com/office/officeart/2018/5/layout/CenteredIconLabelDescriptionList"/>
    <dgm:cxn modelId="{049F4865-9094-46A7-8890-3DB53C06848C}" type="presParOf" srcId="{98D2CA66-A4AD-44BF-8491-3409416588B9}" destId="{DB259ABC-D241-406D-9319-20D555BA098A}" srcOrd="2" destOrd="0" presId="urn:microsoft.com/office/officeart/2018/5/layout/CenteredIconLabelDescriptionList"/>
    <dgm:cxn modelId="{642BD82B-557A-4A49-9A60-30594F3C9D68}" type="presParOf" srcId="{DB259ABC-D241-406D-9319-20D555BA098A}" destId="{48891417-24B2-4107-B147-1EB83325044A}" srcOrd="0" destOrd="0" presId="urn:microsoft.com/office/officeart/2018/5/layout/CenteredIconLabelDescriptionList"/>
    <dgm:cxn modelId="{0C7251B9-DB52-43A6-86A5-90459B575CC9}" type="presParOf" srcId="{DB259ABC-D241-406D-9319-20D555BA098A}" destId="{6C60F101-C7E5-4E69-8767-70DCAE10D69C}" srcOrd="1" destOrd="0" presId="urn:microsoft.com/office/officeart/2018/5/layout/CenteredIconLabelDescriptionList"/>
    <dgm:cxn modelId="{EBCA2C29-6341-410D-87E2-B814308C381F}" type="presParOf" srcId="{DB259ABC-D241-406D-9319-20D555BA098A}" destId="{B9EAD535-7A8A-4E96-BFC8-DB8DA0FE7552}" srcOrd="2" destOrd="0" presId="urn:microsoft.com/office/officeart/2018/5/layout/CenteredIconLabelDescriptionList"/>
    <dgm:cxn modelId="{768C7705-4993-487C-A79A-E7ACD7300B44}" type="presParOf" srcId="{DB259ABC-D241-406D-9319-20D555BA098A}" destId="{70DD1D3F-1A4B-4BE0-AB7C-9647806304FF}" srcOrd="3" destOrd="0" presId="urn:microsoft.com/office/officeart/2018/5/layout/CenteredIconLabelDescriptionList"/>
    <dgm:cxn modelId="{117C6EEF-156D-41CA-B019-08D654BDE5A9}" type="presParOf" srcId="{DB259ABC-D241-406D-9319-20D555BA098A}" destId="{2F1ADEBB-AFF0-438C-9D0D-D1D42DE18556}" srcOrd="4" destOrd="0" presId="urn:microsoft.com/office/officeart/2018/5/layout/CenteredIconLabelDescriptionList"/>
    <dgm:cxn modelId="{3FE893A1-156E-4EA4-B9C9-8E2FEC1CA0C4}" type="presParOf" srcId="{98D2CA66-A4AD-44BF-8491-3409416588B9}" destId="{F74A1B46-0994-4BB6-B6FA-17CB729467E1}" srcOrd="3" destOrd="0" presId="urn:microsoft.com/office/officeart/2018/5/layout/CenteredIconLabelDescriptionList"/>
    <dgm:cxn modelId="{79A4DD9C-169E-46E8-8025-1C47543CDF28}" type="presParOf" srcId="{98D2CA66-A4AD-44BF-8491-3409416588B9}" destId="{F7E38949-18BF-40ED-A70A-3DEB54B8A6D2}" srcOrd="4" destOrd="0" presId="urn:microsoft.com/office/officeart/2018/5/layout/CenteredIconLabelDescriptionList"/>
    <dgm:cxn modelId="{9B1256C6-DC7C-462C-A110-2A6943223F8E}" type="presParOf" srcId="{F7E38949-18BF-40ED-A70A-3DEB54B8A6D2}" destId="{F2EB871E-A980-4F3E-B706-9C5DA7F11538}" srcOrd="0" destOrd="0" presId="urn:microsoft.com/office/officeart/2018/5/layout/CenteredIconLabelDescriptionList"/>
    <dgm:cxn modelId="{37D75AB0-4273-4B88-94D9-5AA197D0F2D4}" type="presParOf" srcId="{F7E38949-18BF-40ED-A70A-3DEB54B8A6D2}" destId="{60068080-CA51-4A1D-AFAB-A893392EC0FA}" srcOrd="1" destOrd="0" presId="urn:microsoft.com/office/officeart/2018/5/layout/CenteredIconLabelDescriptionList"/>
    <dgm:cxn modelId="{38335402-B42D-40DA-9434-D09488E2ADF0}" type="presParOf" srcId="{F7E38949-18BF-40ED-A70A-3DEB54B8A6D2}" destId="{02724811-2D99-471A-B866-AD1BD2BE78AF}" srcOrd="2" destOrd="0" presId="urn:microsoft.com/office/officeart/2018/5/layout/CenteredIconLabelDescriptionList"/>
    <dgm:cxn modelId="{0DAAFDDA-7510-4941-8EE2-D3A26905F7E3}" type="presParOf" srcId="{F7E38949-18BF-40ED-A70A-3DEB54B8A6D2}" destId="{2B95DA9B-BD6C-40A7-B1BD-24C1F38A47F9}" srcOrd="3" destOrd="0" presId="urn:microsoft.com/office/officeart/2018/5/layout/CenteredIconLabelDescriptionList"/>
    <dgm:cxn modelId="{2BAE8EC9-68DA-453F-9181-852AD0A987A5}" type="presParOf" srcId="{F7E38949-18BF-40ED-A70A-3DEB54B8A6D2}" destId="{17E8E44F-5AFC-48F8-8D4A-B7DA1D989304}" srcOrd="4" destOrd="0" presId="urn:microsoft.com/office/officeart/2018/5/layout/CenteredIconLabelDescriptionList"/>
    <dgm:cxn modelId="{300ED7A9-F8D7-471B-B66A-3D56AD79B587}" type="presParOf" srcId="{98D2CA66-A4AD-44BF-8491-3409416588B9}" destId="{BC941EE9-BB63-4D73-9FAE-6063AAAC23AA}" srcOrd="5" destOrd="0" presId="urn:microsoft.com/office/officeart/2018/5/layout/CenteredIconLabelDescriptionList"/>
    <dgm:cxn modelId="{563F483C-14F3-4E7A-AFED-C9DDB6BCF776}" type="presParOf" srcId="{98D2CA66-A4AD-44BF-8491-3409416588B9}" destId="{B51BE266-D287-42AC-9E76-891A317F46D4}" srcOrd="6" destOrd="0" presId="urn:microsoft.com/office/officeart/2018/5/layout/CenteredIconLabelDescriptionList"/>
    <dgm:cxn modelId="{233B1F05-90C6-4856-85E2-FA3E73A4E08F}" type="presParOf" srcId="{B51BE266-D287-42AC-9E76-891A317F46D4}" destId="{440E54AF-17A6-438B-A2D8-F645B8C795E8}" srcOrd="0" destOrd="0" presId="urn:microsoft.com/office/officeart/2018/5/layout/CenteredIconLabelDescriptionList"/>
    <dgm:cxn modelId="{B3CCE1EC-E091-44A2-821B-BCA92F044D00}" type="presParOf" srcId="{B51BE266-D287-42AC-9E76-891A317F46D4}" destId="{19472471-B495-4D20-BEFE-C813EB144D7C}" srcOrd="1" destOrd="0" presId="urn:microsoft.com/office/officeart/2018/5/layout/CenteredIconLabelDescriptionList"/>
    <dgm:cxn modelId="{8FFF039D-7E6B-4DCB-99D6-B985FAB3BC18}" type="presParOf" srcId="{B51BE266-D287-42AC-9E76-891A317F46D4}" destId="{DF53F77F-DAFD-4C9E-A029-59BE3092A963}" srcOrd="2" destOrd="0" presId="urn:microsoft.com/office/officeart/2018/5/layout/CenteredIconLabelDescriptionList"/>
    <dgm:cxn modelId="{B1BCB605-9E00-4498-A44C-A7980FE14B7C}" type="presParOf" srcId="{B51BE266-D287-42AC-9E76-891A317F46D4}" destId="{52975767-1E07-44BB-AF9A-A432D9B7E4AF}" srcOrd="3" destOrd="0" presId="urn:microsoft.com/office/officeart/2018/5/layout/CenteredIconLabelDescriptionList"/>
    <dgm:cxn modelId="{3FC93E35-4C2E-4E84-9C07-050DEA498FAE}" type="presParOf" srcId="{B51BE266-D287-42AC-9E76-891A317F46D4}" destId="{705EDEAA-2811-4D75-AD28-0F446E31203E}"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1D458C-B64F-4FB3-A052-959201AD65A7}"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65519B6C-D98C-4A79-9864-90C98D695C1B}">
      <dgm:prSet custT="1"/>
      <dgm:spPr/>
      <dgm:t>
        <a:bodyPr/>
        <a:lstStyle/>
        <a:p>
          <a:pPr>
            <a:lnSpc>
              <a:spcPct val="100000"/>
            </a:lnSpc>
            <a:defRPr b="1"/>
          </a:pPr>
          <a:r>
            <a:rPr lang="en-US" sz="1800"/>
            <a:t>Security Manager (SM)</a:t>
          </a:r>
        </a:p>
      </dgm:t>
    </dgm:pt>
    <dgm:pt modelId="{0DCFCE78-0034-4984-B792-4D24BD76177B}" type="parTrans" cxnId="{6841C0D8-F808-4BE4-9C30-A4002501583F}">
      <dgm:prSet/>
      <dgm:spPr/>
      <dgm:t>
        <a:bodyPr/>
        <a:lstStyle/>
        <a:p>
          <a:endParaRPr lang="en-US"/>
        </a:p>
      </dgm:t>
    </dgm:pt>
    <dgm:pt modelId="{AA816DF3-FFE0-4AB3-B03E-4EF1626A9287}" type="sibTrans" cxnId="{6841C0D8-F808-4BE4-9C30-A4002501583F}">
      <dgm:prSet/>
      <dgm:spPr/>
      <dgm:t>
        <a:bodyPr/>
        <a:lstStyle/>
        <a:p>
          <a:endParaRPr lang="en-US"/>
        </a:p>
      </dgm:t>
    </dgm:pt>
    <dgm:pt modelId="{97382A03-CFC7-48E8-8DB2-62CECA500B44}">
      <dgm:prSet custT="1"/>
      <dgm:spPr/>
      <dgm:t>
        <a:bodyPr/>
        <a:lstStyle/>
        <a:p>
          <a:pPr>
            <a:lnSpc>
              <a:spcPct val="100000"/>
            </a:lnSpc>
          </a:pPr>
          <a:r>
            <a:rPr lang="en-US" sz="1600"/>
            <a:t>Outlines how LE devices are paired, authenticated, and encrypted.</a:t>
          </a:r>
        </a:p>
      </dgm:t>
    </dgm:pt>
    <dgm:pt modelId="{85F00C49-E8D3-4D16-AEDE-82F17F2B9409}" type="parTrans" cxnId="{66DD7F46-D670-4FE1-B324-A9EEC027F448}">
      <dgm:prSet/>
      <dgm:spPr/>
      <dgm:t>
        <a:bodyPr/>
        <a:lstStyle/>
        <a:p>
          <a:endParaRPr lang="en-US"/>
        </a:p>
      </dgm:t>
    </dgm:pt>
    <dgm:pt modelId="{74D9E51A-7559-4DBA-A1E8-62C499253FC5}" type="sibTrans" cxnId="{66DD7F46-D670-4FE1-B324-A9EEC027F448}">
      <dgm:prSet/>
      <dgm:spPr/>
      <dgm:t>
        <a:bodyPr/>
        <a:lstStyle/>
        <a:p>
          <a:endParaRPr lang="en-US"/>
        </a:p>
      </dgm:t>
    </dgm:pt>
    <dgm:pt modelId="{82054C0F-F7F5-4160-9496-9F93A17A58E4}">
      <dgm:prSet custT="1"/>
      <dgm:spPr/>
      <dgm:t>
        <a:bodyPr/>
        <a:lstStyle/>
        <a:p>
          <a:pPr>
            <a:lnSpc>
              <a:spcPct val="100000"/>
            </a:lnSpc>
          </a:pPr>
          <a:r>
            <a:rPr lang="en-US" sz="1600"/>
            <a:t>Guards against tracking, Man-in-the-Middle attacks, and passive eavesdropping.</a:t>
          </a:r>
        </a:p>
      </dgm:t>
    </dgm:pt>
    <dgm:pt modelId="{992F4090-D715-4866-AF1B-333E8F134FC8}" type="parTrans" cxnId="{A9445648-422F-4899-98A4-8EFACBCD7940}">
      <dgm:prSet/>
      <dgm:spPr/>
      <dgm:t>
        <a:bodyPr/>
        <a:lstStyle/>
        <a:p>
          <a:endParaRPr lang="en-US"/>
        </a:p>
      </dgm:t>
    </dgm:pt>
    <dgm:pt modelId="{B7262AA3-F54C-43A1-8B6F-CC7C7E442016}" type="sibTrans" cxnId="{A9445648-422F-4899-98A4-8EFACBCD7940}">
      <dgm:prSet/>
      <dgm:spPr/>
      <dgm:t>
        <a:bodyPr/>
        <a:lstStyle/>
        <a:p>
          <a:endParaRPr lang="en-US"/>
        </a:p>
      </dgm:t>
    </dgm:pt>
    <dgm:pt modelId="{B8376B15-A03C-406A-A02E-C9658A8BD75C}">
      <dgm:prSet custT="1"/>
      <dgm:spPr/>
      <dgm:t>
        <a:bodyPr/>
        <a:lstStyle/>
        <a:p>
          <a:pPr>
            <a:lnSpc>
              <a:spcPct val="100000"/>
            </a:lnSpc>
            <a:defRPr b="1"/>
          </a:pPr>
          <a:r>
            <a:rPr lang="en-US" sz="1800"/>
            <a:t>Attribute Protocol (ATT)</a:t>
          </a:r>
        </a:p>
      </dgm:t>
    </dgm:pt>
    <dgm:pt modelId="{3B6F8E97-8D3C-45C7-AC47-6C138AEEC804}" type="parTrans" cxnId="{253B995D-EE9E-4DE7-B6FA-52C3A393FDDC}">
      <dgm:prSet/>
      <dgm:spPr/>
      <dgm:t>
        <a:bodyPr/>
        <a:lstStyle/>
        <a:p>
          <a:endParaRPr lang="en-US"/>
        </a:p>
      </dgm:t>
    </dgm:pt>
    <dgm:pt modelId="{E28115B2-7BEE-4F10-AC8D-AB0914C5F45E}" type="sibTrans" cxnId="{253B995D-EE9E-4DE7-B6FA-52C3A393FDDC}">
      <dgm:prSet/>
      <dgm:spPr/>
      <dgm:t>
        <a:bodyPr/>
        <a:lstStyle/>
        <a:p>
          <a:endParaRPr lang="en-US"/>
        </a:p>
      </dgm:t>
    </dgm:pt>
    <dgm:pt modelId="{BF08224D-11DB-475F-958B-378499E66EF9}">
      <dgm:prSet custT="1"/>
      <dgm:spPr/>
      <dgm:t>
        <a:bodyPr/>
        <a:lstStyle/>
        <a:p>
          <a:pPr>
            <a:lnSpc>
              <a:spcPct val="100000"/>
            </a:lnSpc>
          </a:pPr>
          <a:r>
            <a:rPr lang="en-US" sz="1600"/>
            <a:t>Data type known as an attribute is used by LE devices to store data.</a:t>
          </a:r>
        </a:p>
      </dgm:t>
    </dgm:pt>
    <dgm:pt modelId="{95B27C63-E347-4669-B2E5-022F3DF9BC09}" type="parTrans" cxnId="{DBEB6F45-5411-4274-A2B2-BEA2CE9556B9}">
      <dgm:prSet/>
      <dgm:spPr/>
      <dgm:t>
        <a:bodyPr/>
        <a:lstStyle/>
        <a:p>
          <a:endParaRPr lang="en-US"/>
        </a:p>
      </dgm:t>
    </dgm:pt>
    <dgm:pt modelId="{8A498945-9BB5-48E9-B1E2-4A27D96F8D3B}" type="sibTrans" cxnId="{DBEB6F45-5411-4274-A2B2-BEA2CE9556B9}">
      <dgm:prSet/>
      <dgm:spPr/>
      <dgm:t>
        <a:bodyPr/>
        <a:lstStyle/>
        <a:p>
          <a:endParaRPr lang="en-US"/>
        </a:p>
      </dgm:t>
    </dgm:pt>
    <dgm:pt modelId="{8FA1D35A-700D-41C7-A89A-1A36AC784D1D}">
      <dgm:prSet/>
      <dgm:spPr/>
      <dgm:t>
        <a:bodyPr/>
        <a:lstStyle/>
        <a:p>
          <a:pPr>
            <a:lnSpc>
              <a:spcPct val="100000"/>
            </a:lnSpc>
          </a:pPr>
          <a:r>
            <a:rPr lang="en-US" sz="1600"/>
            <a:t>An attribute's structure and access permissions (read, write, read-only, etc.) are specified by the ATT.</a:t>
          </a:r>
        </a:p>
      </dgm:t>
    </dgm:pt>
    <dgm:pt modelId="{C192371B-DF79-4A65-8497-B0DD66C5EC43}" type="parTrans" cxnId="{AE167391-E767-4B39-B981-4A83D8E7931F}">
      <dgm:prSet/>
      <dgm:spPr/>
      <dgm:t>
        <a:bodyPr/>
        <a:lstStyle/>
        <a:p>
          <a:endParaRPr lang="en-US"/>
        </a:p>
      </dgm:t>
    </dgm:pt>
    <dgm:pt modelId="{1F0D6241-E7C3-4C6C-A182-387FBE56B974}" type="sibTrans" cxnId="{AE167391-E767-4B39-B981-4A83D8E7931F}">
      <dgm:prSet/>
      <dgm:spPr/>
      <dgm:t>
        <a:bodyPr/>
        <a:lstStyle/>
        <a:p>
          <a:endParaRPr lang="en-US"/>
        </a:p>
      </dgm:t>
    </dgm:pt>
    <dgm:pt modelId="{E9341751-B5A4-44CB-BACA-8CB2A585C1D5}">
      <dgm:prSet/>
      <dgm:spPr/>
      <dgm:t>
        <a:bodyPr/>
        <a:lstStyle/>
        <a:p>
          <a:pPr>
            <a:lnSpc>
              <a:spcPct val="100000"/>
            </a:lnSpc>
            <a:defRPr b="1"/>
          </a:pPr>
          <a:r>
            <a:rPr lang="en-US" sz="1800"/>
            <a:t>Generic Attribute Profile (GATT)</a:t>
          </a:r>
        </a:p>
      </dgm:t>
    </dgm:pt>
    <dgm:pt modelId="{EE8CB200-65DA-48B2-91A3-C06C09476CCB}" type="parTrans" cxnId="{FF54227C-F88E-4AC2-B7F2-9F9E3E9B74D8}">
      <dgm:prSet/>
      <dgm:spPr/>
      <dgm:t>
        <a:bodyPr/>
        <a:lstStyle/>
        <a:p>
          <a:endParaRPr lang="en-US"/>
        </a:p>
      </dgm:t>
    </dgm:pt>
    <dgm:pt modelId="{15DD94CD-9159-41B3-BC06-D68C57C2234F}" type="sibTrans" cxnId="{FF54227C-F88E-4AC2-B7F2-9F9E3E9B74D8}">
      <dgm:prSet/>
      <dgm:spPr/>
      <dgm:t>
        <a:bodyPr/>
        <a:lstStyle/>
        <a:p>
          <a:endParaRPr lang="en-US"/>
        </a:p>
      </dgm:t>
    </dgm:pt>
    <dgm:pt modelId="{F1DD3E78-8FB1-411D-BFC5-C01716450C0A}">
      <dgm:prSet custT="1"/>
      <dgm:spPr/>
      <dgm:t>
        <a:bodyPr/>
        <a:lstStyle/>
        <a:p>
          <a:pPr>
            <a:lnSpc>
              <a:spcPct val="100000"/>
            </a:lnSpc>
          </a:pPr>
          <a:r>
            <a:rPr lang="en-US" sz="1600"/>
            <a:t>Offers a file-folder-based hierarchical data structure.</a:t>
          </a:r>
        </a:p>
      </dgm:t>
    </dgm:pt>
    <dgm:pt modelId="{876A218E-C5CB-4109-A8E7-A773BE6CA998}" type="parTrans" cxnId="{758E4D7B-27DD-471D-B933-14BFF33E6BE8}">
      <dgm:prSet/>
      <dgm:spPr/>
      <dgm:t>
        <a:bodyPr/>
        <a:lstStyle/>
        <a:p>
          <a:endParaRPr lang="en-US"/>
        </a:p>
      </dgm:t>
    </dgm:pt>
    <dgm:pt modelId="{809C2701-359E-4774-A22B-BF2FB52FB58F}" type="sibTrans" cxnId="{758E4D7B-27DD-471D-B933-14BFF33E6BE8}">
      <dgm:prSet/>
      <dgm:spPr/>
      <dgm:t>
        <a:bodyPr/>
        <a:lstStyle/>
        <a:p>
          <a:endParaRPr lang="en-US"/>
        </a:p>
      </dgm:t>
    </dgm:pt>
    <dgm:pt modelId="{3659E6C8-CDA1-4259-A3A5-D6E2CA48A944}">
      <dgm:prSet/>
      <dgm:spPr/>
      <dgm:t>
        <a:bodyPr/>
        <a:lstStyle/>
        <a:p>
          <a:pPr>
            <a:lnSpc>
              <a:spcPct val="100000"/>
            </a:lnSpc>
            <a:defRPr b="1"/>
          </a:pPr>
          <a:r>
            <a:rPr lang="en-US" sz="1800"/>
            <a:t>Generic Access Profile (GAP)</a:t>
          </a:r>
        </a:p>
      </dgm:t>
    </dgm:pt>
    <dgm:pt modelId="{DCA209AC-BB92-40C7-9947-0D8B2EA493C2}" type="parTrans" cxnId="{CABA5195-2535-401C-BCFC-80B7E8A1024E}">
      <dgm:prSet/>
      <dgm:spPr/>
      <dgm:t>
        <a:bodyPr/>
        <a:lstStyle/>
        <a:p>
          <a:endParaRPr lang="en-US"/>
        </a:p>
      </dgm:t>
    </dgm:pt>
    <dgm:pt modelId="{C201648C-8B61-4870-B8C9-74EDC60BD9A4}" type="sibTrans" cxnId="{CABA5195-2535-401C-BCFC-80B7E8A1024E}">
      <dgm:prSet/>
      <dgm:spPr/>
      <dgm:t>
        <a:bodyPr/>
        <a:lstStyle/>
        <a:p>
          <a:endParaRPr lang="en-US"/>
        </a:p>
      </dgm:t>
    </dgm:pt>
    <dgm:pt modelId="{CC4C83A9-0E66-4164-A516-352BA68D1D6B}">
      <dgm:prSet custT="1"/>
      <dgm:spPr/>
      <dgm:t>
        <a:bodyPr/>
        <a:lstStyle/>
        <a:p>
          <a:pPr>
            <a:lnSpc>
              <a:spcPct val="100000"/>
            </a:lnSpc>
          </a:pPr>
          <a:r>
            <a:rPr lang="en-US" sz="1600"/>
            <a:t>Outlines how a BLE device can connect or broadcast to other devices.</a:t>
          </a:r>
        </a:p>
      </dgm:t>
    </dgm:pt>
    <dgm:pt modelId="{10899186-2DD8-4B77-8F51-051441624588}" type="parTrans" cxnId="{6C170275-79A7-4420-BE1D-CA0E3B997E23}">
      <dgm:prSet/>
      <dgm:spPr/>
      <dgm:t>
        <a:bodyPr/>
        <a:lstStyle/>
        <a:p>
          <a:endParaRPr lang="en-US"/>
        </a:p>
      </dgm:t>
    </dgm:pt>
    <dgm:pt modelId="{6949C344-D5B5-4A3D-9D79-BB34784D895F}" type="sibTrans" cxnId="{6C170275-79A7-4420-BE1D-CA0E3B997E23}">
      <dgm:prSet/>
      <dgm:spPr/>
      <dgm:t>
        <a:bodyPr/>
        <a:lstStyle/>
        <a:p>
          <a:endParaRPr lang="en-US"/>
        </a:p>
      </dgm:t>
    </dgm:pt>
    <dgm:pt modelId="{0F15CCE6-B3A8-4B32-9641-03D73A7FAF79}" type="pres">
      <dgm:prSet presAssocID="{C21D458C-B64F-4FB3-A052-959201AD65A7}" presName="root" presStyleCnt="0">
        <dgm:presLayoutVars>
          <dgm:dir/>
          <dgm:resizeHandles val="exact"/>
        </dgm:presLayoutVars>
      </dgm:prSet>
      <dgm:spPr/>
    </dgm:pt>
    <dgm:pt modelId="{F62BC26A-356B-46D4-B115-30F38C1E2B0B}" type="pres">
      <dgm:prSet presAssocID="{65519B6C-D98C-4A79-9864-90C98D695C1B}" presName="compNode" presStyleCnt="0"/>
      <dgm:spPr/>
    </dgm:pt>
    <dgm:pt modelId="{BFE01C51-ECB0-466D-9463-49DCA2D2C438}" type="pres">
      <dgm:prSet presAssocID="{65519B6C-D98C-4A79-9864-90C98D695C1B}"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luetooth"/>
        </a:ext>
      </dgm:extLst>
    </dgm:pt>
    <dgm:pt modelId="{794862B4-A39C-44F0-B9A5-3065A7EEAD88}" type="pres">
      <dgm:prSet presAssocID="{65519B6C-D98C-4A79-9864-90C98D695C1B}" presName="iconSpace" presStyleCnt="0"/>
      <dgm:spPr/>
    </dgm:pt>
    <dgm:pt modelId="{6BC401BB-3D3D-494A-B85D-D09C41EC9521}" type="pres">
      <dgm:prSet presAssocID="{65519B6C-D98C-4A79-9864-90C98D695C1B}" presName="parTx" presStyleLbl="revTx" presStyleIdx="0" presStyleCnt="8">
        <dgm:presLayoutVars>
          <dgm:chMax val="0"/>
          <dgm:chPref val="0"/>
        </dgm:presLayoutVars>
      </dgm:prSet>
      <dgm:spPr/>
    </dgm:pt>
    <dgm:pt modelId="{231BE5EF-629C-4FE1-9E9E-5A17CC9613A6}" type="pres">
      <dgm:prSet presAssocID="{65519B6C-D98C-4A79-9864-90C98D695C1B}" presName="txSpace" presStyleCnt="0"/>
      <dgm:spPr/>
    </dgm:pt>
    <dgm:pt modelId="{F0D87442-9292-4C5A-B599-D7A88DC0709E}" type="pres">
      <dgm:prSet presAssocID="{65519B6C-D98C-4A79-9864-90C98D695C1B}" presName="desTx" presStyleLbl="revTx" presStyleIdx="1" presStyleCnt="8">
        <dgm:presLayoutVars/>
      </dgm:prSet>
      <dgm:spPr/>
    </dgm:pt>
    <dgm:pt modelId="{2A2D0B30-7DCC-4464-89C4-F94D231A764F}" type="pres">
      <dgm:prSet presAssocID="{AA816DF3-FFE0-4AB3-B03E-4EF1626A9287}" presName="sibTrans" presStyleCnt="0"/>
      <dgm:spPr/>
    </dgm:pt>
    <dgm:pt modelId="{2295B1D8-33C8-4DA8-93A9-9DB897E5C8B5}" type="pres">
      <dgm:prSet presAssocID="{B8376B15-A03C-406A-A02E-C9658A8BD75C}" presName="compNode" presStyleCnt="0"/>
      <dgm:spPr/>
    </dgm:pt>
    <dgm:pt modelId="{70C5E758-B3B8-4F0D-AD00-F9132B260E4B}" type="pres">
      <dgm:prSet presAssocID="{B8376B15-A03C-406A-A02E-C9658A8BD75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5EA4DAF3-2902-4503-B326-A6AD173FC781}" type="pres">
      <dgm:prSet presAssocID="{B8376B15-A03C-406A-A02E-C9658A8BD75C}" presName="iconSpace" presStyleCnt="0"/>
      <dgm:spPr/>
    </dgm:pt>
    <dgm:pt modelId="{156351CF-04D2-4F53-B98F-1FBC9C431777}" type="pres">
      <dgm:prSet presAssocID="{B8376B15-A03C-406A-A02E-C9658A8BD75C}" presName="parTx" presStyleLbl="revTx" presStyleIdx="2" presStyleCnt="8">
        <dgm:presLayoutVars>
          <dgm:chMax val="0"/>
          <dgm:chPref val="0"/>
        </dgm:presLayoutVars>
      </dgm:prSet>
      <dgm:spPr/>
    </dgm:pt>
    <dgm:pt modelId="{5AF07C1C-6463-407B-819D-EDC3FBAF36FF}" type="pres">
      <dgm:prSet presAssocID="{B8376B15-A03C-406A-A02E-C9658A8BD75C}" presName="txSpace" presStyleCnt="0"/>
      <dgm:spPr/>
    </dgm:pt>
    <dgm:pt modelId="{DE185E26-94D0-47D0-987B-4CD42A5E699C}" type="pres">
      <dgm:prSet presAssocID="{B8376B15-A03C-406A-A02E-C9658A8BD75C}" presName="desTx" presStyleLbl="revTx" presStyleIdx="3" presStyleCnt="8">
        <dgm:presLayoutVars/>
      </dgm:prSet>
      <dgm:spPr/>
    </dgm:pt>
    <dgm:pt modelId="{747716AB-AAFE-41AB-98C0-AF663DDFAC0C}" type="pres">
      <dgm:prSet presAssocID="{E28115B2-7BEE-4F10-AC8D-AB0914C5F45E}" presName="sibTrans" presStyleCnt="0"/>
      <dgm:spPr/>
    </dgm:pt>
    <dgm:pt modelId="{058780BF-EC22-4D3A-AAA5-DE40C1ECC88E}" type="pres">
      <dgm:prSet presAssocID="{E9341751-B5A4-44CB-BACA-8CB2A585C1D5}" presName="compNode" presStyleCnt="0"/>
      <dgm:spPr/>
    </dgm:pt>
    <dgm:pt modelId="{E308C855-7B02-4AE1-8F50-6148C347197E}" type="pres">
      <dgm:prSet presAssocID="{E9341751-B5A4-44CB-BACA-8CB2A585C1D5}"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Open Folder"/>
        </a:ext>
      </dgm:extLst>
    </dgm:pt>
    <dgm:pt modelId="{57DEDA02-FCD2-4FD5-AB9D-14598E64C19A}" type="pres">
      <dgm:prSet presAssocID="{E9341751-B5A4-44CB-BACA-8CB2A585C1D5}" presName="iconSpace" presStyleCnt="0"/>
      <dgm:spPr/>
    </dgm:pt>
    <dgm:pt modelId="{D84C940E-1AF5-46F3-B1AF-61D98893C2F4}" type="pres">
      <dgm:prSet presAssocID="{E9341751-B5A4-44CB-BACA-8CB2A585C1D5}" presName="parTx" presStyleLbl="revTx" presStyleIdx="4" presStyleCnt="8">
        <dgm:presLayoutVars>
          <dgm:chMax val="0"/>
          <dgm:chPref val="0"/>
        </dgm:presLayoutVars>
      </dgm:prSet>
      <dgm:spPr/>
    </dgm:pt>
    <dgm:pt modelId="{8AF4378C-4197-4634-8E22-ED0B011B1245}" type="pres">
      <dgm:prSet presAssocID="{E9341751-B5A4-44CB-BACA-8CB2A585C1D5}" presName="txSpace" presStyleCnt="0"/>
      <dgm:spPr/>
    </dgm:pt>
    <dgm:pt modelId="{60A72764-3F21-41AB-A006-EDCE0F7078F0}" type="pres">
      <dgm:prSet presAssocID="{E9341751-B5A4-44CB-BACA-8CB2A585C1D5}" presName="desTx" presStyleLbl="revTx" presStyleIdx="5" presStyleCnt="8">
        <dgm:presLayoutVars/>
      </dgm:prSet>
      <dgm:spPr/>
    </dgm:pt>
    <dgm:pt modelId="{5BDB02AE-7D38-4A13-9891-6946A6E7763D}" type="pres">
      <dgm:prSet presAssocID="{15DD94CD-9159-41B3-BC06-D68C57C2234F}" presName="sibTrans" presStyleCnt="0"/>
      <dgm:spPr/>
    </dgm:pt>
    <dgm:pt modelId="{00DB1F75-0DA3-404F-AB71-E1582EDF5D64}" type="pres">
      <dgm:prSet presAssocID="{3659E6C8-CDA1-4259-A3A5-D6E2CA48A944}" presName="compNode" presStyleCnt="0"/>
      <dgm:spPr/>
    </dgm:pt>
    <dgm:pt modelId="{3948A7CB-1D01-40BE-B3F6-F5A429928D68}" type="pres">
      <dgm:prSet presAssocID="{3659E6C8-CDA1-4259-A3A5-D6E2CA48A94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1F61B50B-4C2E-474A-BCB2-3D061E1E75F9}" type="pres">
      <dgm:prSet presAssocID="{3659E6C8-CDA1-4259-A3A5-D6E2CA48A944}" presName="iconSpace" presStyleCnt="0"/>
      <dgm:spPr/>
    </dgm:pt>
    <dgm:pt modelId="{4550C567-C843-4196-88F8-3BC6CD979A56}" type="pres">
      <dgm:prSet presAssocID="{3659E6C8-CDA1-4259-A3A5-D6E2CA48A944}" presName="parTx" presStyleLbl="revTx" presStyleIdx="6" presStyleCnt="8">
        <dgm:presLayoutVars>
          <dgm:chMax val="0"/>
          <dgm:chPref val="0"/>
        </dgm:presLayoutVars>
      </dgm:prSet>
      <dgm:spPr/>
    </dgm:pt>
    <dgm:pt modelId="{F154A4AD-6B03-427A-9B61-289D724DD3BB}" type="pres">
      <dgm:prSet presAssocID="{3659E6C8-CDA1-4259-A3A5-D6E2CA48A944}" presName="txSpace" presStyleCnt="0"/>
      <dgm:spPr/>
    </dgm:pt>
    <dgm:pt modelId="{664D3429-3164-4D98-AAE0-D7D2FE55D761}" type="pres">
      <dgm:prSet presAssocID="{3659E6C8-CDA1-4259-A3A5-D6E2CA48A944}" presName="desTx" presStyleLbl="revTx" presStyleIdx="7" presStyleCnt="8">
        <dgm:presLayoutVars/>
      </dgm:prSet>
      <dgm:spPr/>
    </dgm:pt>
  </dgm:ptLst>
  <dgm:cxnLst>
    <dgm:cxn modelId="{9CF4A806-8C0D-4BBD-987C-D60A28789DE8}" type="presOf" srcId="{3659E6C8-CDA1-4259-A3A5-D6E2CA48A944}" destId="{4550C567-C843-4196-88F8-3BC6CD979A56}" srcOrd="0" destOrd="0" presId="urn:microsoft.com/office/officeart/2018/5/layout/CenteredIconLabelDescriptionList"/>
    <dgm:cxn modelId="{D677BA14-B778-4F2B-A17A-771A7B2A60BC}" type="presOf" srcId="{C21D458C-B64F-4FB3-A052-959201AD65A7}" destId="{0F15CCE6-B3A8-4B32-9641-03D73A7FAF79}" srcOrd="0" destOrd="0" presId="urn:microsoft.com/office/officeart/2018/5/layout/CenteredIconLabelDescriptionList"/>
    <dgm:cxn modelId="{486C151A-9000-4C18-841A-6C6801397ACE}" type="presOf" srcId="{B8376B15-A03C-406A-A02E-C9658A8BD75C}" destId="{156351CF-04D2-4F53-B98F-1FBC9C431777}" srcOrd="0" destOrd="0" presId="urn:microsoft.com/office/officeart/2018/5/layout/CenteredIconLabelDescriptionList"/>
    <dgm:cxn modelId="{B048532A-3983-4DBF-A545-9851DADAB1F7}" type="presOf" srcId="{CC4C83A9-0E66-4164-A516-352BA68D1D6B}" destId="{664D3429-3164-4D98-AAE0-D7D2FE55D761}" srcOrd="0" destOrd="0" presId="urn:microsoft.com/office/officeart/2018/5/layout/CenteredIconLabelDescriptionList"/>
    <dgm:cxn modelId="{A715DD3D-1B1E-446F-8F29-F4C2D11AA6A1}" type="presOf" srcId="{97382A03-CFC7-48E8-8DB2-62CECA500B44}" destId="{F0D87442-9292-4C5A-B599-D7A88DC0709E}" srcOrd="0" destOrd="0" presId="urn:microsoft.com/office/officeart/2018/5/layout/CenteredIconLabelDescriptionList"/>
    <dgm:cxn modelId="{253B995D-EE9E-4DE7-B6FA-52C3A393FDDC}" srcId="{C21D458C-B64F-4FB3-A052-959201AD65A7}" destId="{B8376B15-A03C-406A-A02E-C9658A8BD75C}" srcOrd="1" destOrd="0" parTransId="{3B6F8E97-8D3C-45C7-AC47-6C138AEEC804}" sibTransId="{E28115B2-7BEE-4F10-AC8D-AB0914C5F45E}"/>
    <dgm:cxn modelId="{0231D160-84C6-4AFA-B6D2-662F7C1E59A1}" type="presOf" srcId="{F1DD3E78-8FB1-411D-BFC5-C01716450C0A}" destId="{60A72764-3F21-41AB-A006-EDCE0F7078F0}" srcOrd="0" destOrd="0" presId="urn:microsoft.com/office/officeart/2018/5/layout/CenteredIconLabelDescriptionList"/>
    <dgm:cxn modelId="{78714B62-895C-4C70-8921-0AE977C505FD}" type="presOf" srcId="{65519B6C-D98C-4A79-9864-90C98D695C1B}" destId="{6BC401BB-3D3D-494A-B85D-D09C41EC9521}" srcOrd="0" destOrd="0" presId="urn:microsoft.com/office/officeart/2018/5/layout/CenteredIconLabelDescriptionList"/>
    <dgm:cxn modelId="{DBEB6F45-5411-4274-A2B2-BEA2CE9556B9}" srcId="{B8376B15-A03C-406A-A02E-C9658A8BD75C}" destId="{BF08224D-11DB-475F-958B-378499E66EF9}" srcOrd="0" destOrd="0" parTransId="{95B27C63-E347-4669-B2E5-022F3DF9BC09}" sibTransId="{8A498945-9BB5-48E9-B1E2-4A27D96F8D3B}"/>
    <dgm:cxn modelId="{66DD7F46-D670-4FE1-B324-A9EEC027F448}" srcId="{65519B6C-D98C-4A79-9864-90C98D695C1B}" destId="{97382A03-CFC7-48E8-8DB2-62CECA500B44}" srcOrd="0" destOrd="0" parTransId="{85F00C49-E8D3-4D16-AEDE-82F17F2B9409}" sibTransId="{74D9E51A-7559-4DBA-A1E8-62C499253FC5}"/>
    <dgm:cxn modelId="{A9445648-422F-4899-98A4-8EFACBCD7940}" srcId="{65519B6C-D98C-4A79-9864-90C98D695C1B}" destId="{82054C0F-F7F5-4160-9496-9F93A17A58E4}" srcOrd="1" destOrd="0" parTransId="{992F4090-D715-4866-AF1B-333E8F134FC8}" sibTransId="{B7262AA3-F54C-43A1-8B6F-CC7C7E442016}"/>
    <dgm:cxn modelId="{6C170275-79A7-4420-BE1D-CA0E3B997E23}" srcId="{3659E6C8-CDA1-4259-A3A5-D6E2CA48A944}" destId="{CC4C83A9-0E66-4164-A516-352BA68D1D6B}" srcOrd="0" destOrd="0" parTransId="{10899186-2DD8-4B77-8F51-051441624588}" sibTransId="{6949C344-D5B5-4A3D-9D79-BB34784D895F}"/>
    <dgm:cxn modelId="{C6870876-3FFC-4438-A63B-A122B0EB2FAC}" type="presOf" srcId="{E9341751-B5A4-44CB-BACA-8CB2A585C1D5}" destId="{D84C940E-1AF5-46F3-B1AF-61D98893C2F4}" srcOrd="0" destOrd="0" presId="urn:microsoft.com/office/officeart/2018/5/layout/CenteredIconLabelDescriptionList"/>
    <dgm:cxn modelId="{758E4D7B-27DD-471D-B933-14BFF33E6BE8}" srcId="{E9341751-B5A4-44CB-BACA-8CB2A585C1D5}" destId="{F1DD3E78-8FB1-411D-BFC5-C01716450C0A}" srcOrd="0" destOrd="0" parTransId="{876A218E-C5CB-4109-A8E7-A773BE6CA998}" sibTransId="{809C2701-359E-4774-A22B-BF2FB52FB58F}"/>
    <dgm:cxn modelId="{FF54227C-F88E-4AC2-B7F2-9F9E3E9B74D8}" srcId="{C21D458C-B64F-4FB3-A052-959201AD65A7}" destId="{E9341751-B5A4-44CB-BACA-8CB2A585C1D5}" srcOrd="2" destOrd="0" parTransId="{EE8CB200-65DA-48B2-91A3-C06C09476CCB}" sibTransId="{15DD94CD-9159-41B3-BC06-D68C57C2234F}"/>
    <dgm:cxn modelId="{AE167391-E767-4B39-B981-4A83D8E7931F}" srcId="{B8376B15-A03C-406A-A02E-C9658A8BD75C}" destId="{8FA1D35A-700D-41C7-A89A-1A36AC784D1D}" srcOrd="1" destOrd="0" parTransId="{C192371B-DF79-4A65-8497-B0DD66C5EC43}" sibTransId="{1F0D6241-E7C3-4C6C-A182-387FBE56B974}"/>
    <dgm:cxn modelId="{CABA5195-2535-401C-BCFC-80B7E8A1024E}" srcId="{C21D458C-B64F-4FB3-A052-959201AD65A7}" destId="{3659E6C8-CDA1-4259-A3A5-D6E2CA48A944}" srcOrd="3" destOrd="0" parTransId="{DCA209AC-BB92-40C7-9947-0D8B2EA493C2}" sibTransId="{C201648C-8B61-4870-B8C9-74EDC60BD9A4}"/>
    <dgm:cxn modelId="{49CA1EAD-E418-40EB-BAC0-FCDE85B72548}" type="presOf" srcId="{8FA1D35A-700D-41C7-A89A-1A36AC784D1D}" destId="{DE185E26-94D0-47D0-987B-4CD42A5E699C}" srcOrd="0" destOrd="1" presId="urn:microsoft.com/office/officeart/2018/5/layout/CenteredIconLabelDescriptionList"/>
    <dgm:cxn modelId="{A1216DCA-94FF-4D48-9B2F-92C73613AE30}" type="presOf" srcId="{BF08224D-11DB-475F-958B-378499E66EF9}" destId="{DE185E26-94D0-47D0-987B-4CD42A5E699C}" srcOrd="0" destOrd="0" presId="urn:microsoft.com/office/officeart/2018/5/layout/CenteredIconLabelDescriptionList"/>
    <dgm:cxn modelId="{6841C0D8-F808-4BE4-9C30-A4002501583F}" srcId="{C21D458C-B64F-4FB3-A052-959201AD65A7}" destId="{65519B6C-D98C-4A79-9864-90C98D695C1B}" srcOrd="0" destOrd="0" parTransId="{0DCFCE78-0034-4984-B792-4D24BD76177B}" sibTransId="{AA816DF3-FFE0-4AB3-B03E-4EF1626A9287}"/>
    <dgm:cxn modelId="{D3E203DA-976E-44DF-A2D7-21F2D203050C}" type="presOf" srcId="{82054C0F-F7F5-4160-9496-9F93A17A58E4}" destId="{F0D87442-9292-4C5A-B599-D7A88DC0709E}" srcOrd="0" destOrd="1" presId="urn:microsoft.com/office/officeart/2018/5/layout/CenteredIconLabelDescriptionList"/>
    <dgm:cxn modelId="{07803FB1-5662-4112-A4CE-F9AF52B55AAE}" type="presParOf" srcId="{0F15CCE6-B3A8-4B32-9641-03D73A7FAF79}" destId="{F62BC26A-356B-46D4-B115-30F38C1E2B0B}" srcOrd="0" destOrd="0" presId="urn:microsoft.com/office/officeart/2018/5/layout/CenteredIconLabelDescriptionList"/>
    <dgm:cxn modelId="{8E5CDB9A-4581-43D5-B710-280015A591E7}" type="presParOf" srcId="{F62BC26A-356B-46D4-B115-30F38C1E2B0B}" destId="{BFE01C51-ECB0-466D-9463-49DCA2D2C438}" srcOrd="0" destOrd="0" presId="urn:microsoft.com/office/officeart/2018/5/layout/CenteredIconLabelDescriptionList"/>
    <dgm:cxn modelId="{4BC97517-9B08-4608-8BD1-CEE34FAA2198}" type="presParOf" srcId="{F62BC26A-356B-46D4-B115-30F38C1E2B0B}" destId="{794862B4-A39C-44F0-B9A5-3065A7EEAD88}" srcOrd="1" destOrd="0" presId="urn:microsoft.com/office/officeart/2018/5/layout/CenteredIconLabelDescriptionList"/>
    <dgm:cxn modelId="{9A5E895E-8937-49A5-86F5-66C3ECCB94F8}" type="presParOf" srcId="{F62BC26A-356B-46D4-B115-30F38C1E2B0B}" destId="{6BC401BB-3D3D-494A-B85D-D09C41EC9521}" srcOrd="2" destOrd="0" presId="urn:microsoft.com/office/officeart/2018/5/layout/CenteredIconLabelDescriptionList"/>
    <dgm:cxn modelId="{581E6E65-0F93-4409-A9C1-BA8F5829C31F}" type="presParOf" srcId="{F62BC26A-356B-46D4-B115-30F38C1E2B0B}" destId="{231BE5EF-629C-4FE1-9E9E-5A17CC9613A6}" srcOrd="3" destOrd="0" presId="urn:microsoft.com/office/officeart/2018/5/layout/CenteredIconLabelDescriptionList"/>
    <dgm:cxn modelId="{6C74F49F-9687-4B53-8FCA-B10137E6D0DA}" type="presParOf" srcId="{F62BC26A-356B-46D4-B115-30F38C1E2B0B}" destId="{F0D87442-9292-4C5A-B599-D7A88DC0709E}" srcOrd="4" destOrd="0" presId="urn:microsoft.com/office/officeart/2018/5/layout/CenteredIconLabelDescriptionList"/>
    <dgm:cxn modelId="{EBCB709F-BA22-489B-B69F-F452E4CB9215}" type="presParOf" srcId="{0F15CCE6-B3A8-4B32-9641-03D73A7FAF79}" destId="{2A2D0B30-7DCC-4464-89C4-F94D231A764F}" srcOrd="1" destOrd="0" presId="urn:microsoft.com/office/officeart/2018/5/layout/CenteredIconLabelDescriptionList"/>
    <dgm:cxn modelId="{2AA99B10-CA08-4D18-800F-DA8CD3B4EB77}" type="presParOf" srcId="{0F15CCE6-B3A8-4B32-9641-03D73A7FAF79}" destId="{2295B1D8-33C8-4DA8-93A9-9DB897E5C8B5}" srcOrd="2" destOrd="0" presId="urn:microsoft.com/office/officeart/2018/5/layout/CenteredIconLabelDescriptionList"/>
    <dgm:cxn modelId="{5534D5B8-BBB7-4A4F-8DD6-73969D6DA3B8}" type="presParOf" srcId="{2295B1D8-33C8-4DA8-93A9-9DB897E5C8B5}" destId="{70C5E758-B3B8-4F0D-AD00-F9132B260E4B}" srcOrd="0" destOrd="0" presId="urn:microsoft.com/office/officeart/2018/5/layout/CenteredIconLabelDescriptionList"/>
    <dgm:cxn modelId="{9A8AC42F-21C1-47B9-B690-33543DA91CCD}" type="presParOf" srcId="{2295B1D8-33C8-4DA8-93A9-9DB897E5C8B5}" destId="{5EA4DAF3-2902-4503-B326-A6AD173FC781}" srcOrd="1" destOrd="0" presId="urn:microsoft.com/office/officeart/2018/5/layout/CenteredIconLabelDescriptionList"/>
    <dgm:cxn modelId="{EDE61B8E-A763-4C00-A429-004ACEE5FF49}" type="presParOf" srcId="{2295B1D8-33C8-4DA8-93A9-9DB897E5C8B5}" destId="{156351CF-04D2-4F53-B98F-1FBC9C431777}" srcOrd="2" destOrd="0" presId="urn:microsoft.com/office/officeart/2018/5/layout/CenteredIconLabelDescriptionList"/>
    <dgm:cxn modelId="{E38710BB-11B6-4335-8D16-B8B33B52D065}" type="presParOf" srcId="{2295B1D8-33C8-4DA8-93A9-9DB897E5C8B5}" destId="{5AF07C1C-6463-407B-819D-EDC3FBAF36FF}" srcOrd="3" destOrd="0" presId="urn:microsoft.com/office/officeart/2018/5/layout/CenteredIconLabelDescriptionList"/>
    <dgm:cxn modelId="{3B4157F5-DC04-45E2-BA09-4CAD6F7FA0E7}" type="presParOf" srcId="{2295B1D8-33C8-4DA8-93A9-9DB897E5C8B5}" destId="{DE185E26-94D0-47D0-987B-4CD42A5E699C}" srcOrd="4" destOrd="0" presId="urn:microsoft.com/office/officeart/2018/5/layout/CenteredIconLabelDescriptionList"/>
    <dgm:cxn modelId="{1DBA1119-E5C8-41AB-9617-82BBF768545D}" type="presParOf" srcId="{0F15CCE6-B3A8-4B32-9641-03D73A7FAF79}" destId="{747716AB-AAFE-41AB-98C0-AF663DDFAC0C}" srcOrd="3" destOrd="0" presId="urn:microsoft.com/office/officeart/2018/5/layout/CenteredIconLabelDescriptionList"/>
    <dgm:cxn modelId="{C35D2A38-B7EE-4B08-B7D5-C48C862C202F}" type="presParOf" srcId="{0F15CCE6-B3A8-4B32-9641-03D73A7FAF79}" destId="{058780BF-EC22-4D3A-AAA5-DE40C1ECC88E}" srcOrd="4" destOrd="0" presId="urn:microsoft.com/office/officeart/2018/5/layout/CenteredIconLabelDescriptionList"/>
    <dgm:cxn modelId="{4A46A66E-B49D-4DCF-93C2-B653FE615E7E}" type="presParOf" srcId="{058780BF-EC22-4D3A-AAA5-DE40C1ECC88E}" destId="{E308C855-7B02-4AE1-8F50-6148C347197E}" srcOrd="0" destOrd="0" presId="urn:microsoft.com/office/officeart/2018/5/layout/CenteredIconLabelDescriptionList"/>
    <dgm:cxn modelId="{0BD7458B-DC4C-48EB-A606-1B7D0A17ECD7}" type="presParOf" srcId="{058780BF-EC22-4D3A-AAA5-DE40C1ECC88E}" destId="{57DEDA02-FCD2-4FD5-AB9D-14598E64C19A}" srcOrd="1" destOrd="0" presId="urn:microsoft.com/office/officeart/2018/5/layout/CenteredIconLabelDescriptionList"/>
    <dgm:cxn modelId="{9487261D-3864-417E-BC37-5F17902713A6}" type="presParOf" srcId="{058780BF-EC22-4D3A-AAA5-DE40C1ECC88E}" destId="{D84C940E-1AF5-46F3-B1AF-61D98893C2F4}" srcOrd="2" destOrd="0" presId="urn:microsoft.com/office/officeart/2018/5/layout/CenteredIconLabelDescriptionList"/>
    <dgm:cxn modelId="{472AD4F4-56C2-4682-88AE-E76E5E16ADFB}" type="presParOf" srcId="{058780BF-EC22-4D3A-AAA5-DE40C1ECC88E}" destId="{8AF4378C-4197-4634-8E22-ED0B011B1245}" srcOrd="3" destOrd="0" presId="urn:microsoft.com/office/officeart/2018/5/layout/CenteredIconLabelDescriptionList"/>
    <dgm:cxn modelId="{2F8F2066-04B9-4AB4-BEF4-D09C3CCB1733}" type="presParOf" srcId="{058780BF-EC22-4D3A-AAA5-DE40C1ECC88E}" destId="{60A72764-3F21-41AB-A006-EDCE0F7078F0}" srcOrd="4" destOrd="0" presId="urn:microsoft.com/office/officeart/2018/5/layout/CenteredIconLabelDescriptionList"/>
    <dgm:cxn modelId="{BADBAB51-7A00-44CE-A91E-12DC0181751B}" type="presParOf" srcId="{0F15CCE6-B3A8-4B32-9641-03D73A7FAF79}" destId="{5BDB02AE-7D38-4A13-9891-6946A6E7763D}" srcOrd="5" destOrd="0" presId="urn:microsoft.com/office/officeart/2018/5/layout/CenteredIconLabelDescriptionList"/>
    <dgm:cxn modelId="{2FC6FC74-55ED-445F-B94C-F06E6881E84B}" type="presParOf" srcId="{0F15CCE6-B3A8-4B32-9641-03D73A7FAF79}" destId="{00DB1F75-0DA3-404F-AB71-E1582EDF5D64}" srcOrd="6" destOrd="0" presId="urn:microsoft.com/office/officeart/2018/5/layout/CenteredIconLabelDescriptionList"/>
    <dgm:cxn modelId="{0DB72D80-ED42-4531-89E1-4F0E4340E970}" type="presParOf" srcId="{00DB1F75-0DA3-404F-AB71-E1582EDF5D64}" destId="{3948A7CB-1D01-40BE-B3F6-F5A429928D68}" srcOrd="0" destOrd="0" presId="urn:microsoft.com/office/officeart/2018/5/layout/CenteredIconLabelDescriptionList"/>
    <dgm:cxn modelId="{04619E6A-F4BB-487B-9FDC-E73D1BF64037}" type="presParOf" srcId="{00DB1F75-0DA3-404F-AB71-E1582EDF5D64}" destId="{1F61B50B-4C2E-474A-BCB2-3D061E1E75F9}" srcOrd="1" destOrd="0" presId="urn:microsoft.com/office/officeart/2018/5/layout/CenteredIconLabelDescriptionList"/>
    <dgm:cxn modelId="{2B5E7DCE-CD0D-4720-A9BA-F352B6EAB4C6}" type="presParOf" srcId="{00DB1F75-0DA3-404F-AB71-E1582EDF5D64}" destId="{4550C567-C843-4196-88F8-3BC6CD979A56}" srcOrd="2" destOrd="0" presId="urn:microsoft.com/office/officeart/2018/5/layout/CenteredIconLabelDescriptionList"/>
    <dgm:cxn modelId="{4C9A4684-1EDF-4747-848A-2A627D8B9889}" type="presParOf" srcId="{00DB1F75-0DA3-404F-AB71-E1582EDF5D64}" destId="{F154A4AD-6B03-427A-9B61-289D724DD3BB}" srcOrd="3" destOrd="0" presId="urn:microsoft.com/office/officeart/2018/5/layout/CenteredIconLabelDescriptionList"/>
    <dgm:cxn modelId="{42F73679-26A3-44B2-BA2D-659CAA1A2A22}" type="presParOf" srcId="{00DB1F75-0DA3-404F-AB71-E1582EDF5D64}" destId="{664D3429-3164-4D98-AAE0-D7D2FE55D761}"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C0F2B3-474E-47DB-8186-AF181A25BA5D}" type="doc">
      <dgm:prSet loTypeId="urn:microsoft.com/office/officeart/2005/8/layout/vList2" loCatId="list" qsTypeId="urn:microsoft.com/office/officeart/2005/8/quickstyle/simple1" qsCatId="simple" csTypeId="urn:microsoft.com/office/officeart/2005/8/colors/accent1_1" csCatId="accent1"/>
      <dgm:spPr/>
      <dgm:t>
        <a:bodyPr/>
        <a:lstStyle/>
        <a:p>
          <a:endParaRPr lang="en-US"/>
        </a:p>
      </dgm:t>
    </dgm:pt>
    <dgm:pt modelId="{DCB3DAC4-C82E-43F9-9C35-6F1E2D3C0AC3}">
      <dgm:prSet custT="0"/>
      <dgm:spPr/>
      <dgm:t>
        <a:bodyPr/>
        <a:lstStyle/>
        <a:p>
          <a:r>
            <a:rPr lang="en-US"/>
            <a:t>Faster data transfer and broader coverage come at the cost of power consumption</a:t>
          </a:r>
          <a:r>
            <a:rPr lang="en-US">
              <a:latin typeface="Grandview Display"/>
            </a:rPr>
            <a:t>.</a:t>
          </a:r>
          <a:endParaRPr lang="en-US"/>
        </a:p>
      </dgm:t>
    </dgm:pt>
    <dgm:pt modelId="{D2C7E6D6-E559-4B13-A3A2-2DA14D86205B}" type="parTrans" cxnId="{4742B4F2-1750-4BE6-8918-B1483BB3D6F7}">
      <dgm:prSet/>
      <dgm:spPr/>
      <dgm:t>
        <a:bodyPr/>
        <a:lstStyle/>
        <a:p>
          <a:endParaRPr lang="en-US"/>
        </a:p>
      </dgm:t>
    </dgm:pt>
    <dgm:pt modelId="{3B4EEC3A-B9D5-41AB-AD6F-5FE95F1F654A}" type="sibTrans" cxnId="{4742B4F2-1750-4BE6-8918-B1483BB3D6F7}">
      <dgm:prSet/>
      <dgm:spPr/>
      <dgm:t>
        <a:bodyPr/>
        <a:lstStyle/>
        <a:p>
          <a:endParaRPr lang="en-US"/>
        </a:p>
      </dgm:t>
    </dgm:pt>
    <dgm:pt modelId="{A37A8413-AFE2-4FB7-BB6F-CDEFDAB55B31}">
      <dgm:prSet/>
      <dgm:spPr/>
      <dgm:t>
        <a:bodyPr/>
        <a:lstStyle/>
        <a:p>
          <a:r>
            <a:rPr lang="en-US"/>
            <a:t>Applications that require frequent data transmission require rapid low-latency communication</a:t>
          </a:r>
          <a:r>
            <a:rPr lang="en-US">
              <a:latin typeface="Grandview Display"/>
            </a:rPr>
            <a:t>.</a:t>
          </a:r>
          <a:endParaRPr lang="en-US"/>
        </a:p>
      </dgm:t>
    </dgm:pt>
    <dgm:pt modelId="{F99030DC-BBB7-4700-8461-C4D8C03FFB13}" type="parTrans" cxnId="{9E0EC9F3-B81F-44F3-BADC-519AFB379367}">
      <dgm:prSet/>
      <dgm:spPr/>
      <dgm:t>
        <a:bodyPr/>
        <a:lstStyle/>
        <a:p>
          <a:endParaRPr lang="en-US"/>
        </a:p>
      </dgm:t>
    </dgm:pt>
    <dgm:pt modelId="{110C55EB-34A5-4710-A82D-2A8AEA66C385}" type="sibTrans" cxnId="{9E0EC9F3-B81F-44F3-BADC-519AFB379367}">
      <dgm:prSet/>
      <dgm:spPr/>
      <dgm:t>
        <a:bodyPr/>
        <a:lstStyle/>
        <a:p>
          <a:endParaRPr lang="en-US"/>
        </a:p>
      </dgm:t>
    </dgm:pt>
    <dgm:pt modelId="{4E85C8FC-C10D-4555-8C7B-B40DBEDF7E61}">
      <dgm:prSet/>
      <dgm:spPr/>
      <dgm:t>
        <a:bodyPr/>
        <a:lstStyle/>
        <a:p>
          <a:r>
            <a:rPr lang="en-US"/>
            <a:t>Devices that only transmit data periodically can function with slower speeds</a:t>
          </a:r>
          <a:r>
            <a:rPr lang="en-US">
              <a:latin typeface="Grandview Display"/>
            </a:rPr>
            <a:t>.</a:t>
          </a:r>
          <a:endParaRPr lang="en-US"/>
        </a:p>
      </dgm:t>
    </dgm:pt>
    <dgm:pt modelId="{E608DB04-C4B4-4FD1-B8A8-D0C736C83001}" type="parTrans" cxnId="{FFA8692E-8D11-4E82-AC5E-7DCA2A0F624D}">
      <dgm:prSet/>
      <dgm:spPr/>
      <dgm:t>
        <a:bodyPr/>
        <a:lstStyle/>
        <a:p>
          <a:endParaRPr lang="en-US"/>
        </a:p>
      </dgm:t>
    </dgm:pt>
    <dgm:pt modelId="{A68252D2-5253-4025-94EC-F6CB888A317F}" type="sibTrans" cxnId="{FFA8692E-8D11-4E82-AC5E-7DCA2A0F624D}">
      <dgm:prSet/>
      <dgm:spPr/>
      <dgm:t>
        <a:bodyPr/>
        <a:lstStyle/>
        <a:p>
          <a:endParaRPr lang="en-US"/>
        </a:p>
      </dgm:t>
    </dgm:pt>
    <dgm:pt modelId="{22472D5C-C635-4990-9D30-DE8D5E83D98B}">
      <dgm:prSet/>
      <dgm:spPr/>
      <dgm:t>
        <a:bodyPr/>
        <a:lstStyle/>
        <a:p>
          <a:r>
            <a:rPr lang="en-US"/>
            <a:t>Long-range communication provides greater mobility but requires more energy</a:t>
          </a:r>
          <a:r>
            <a:rPr lang="en-US">
              <a:latin typeface="Grandview Display"/>
            </a:rPr>
            <a:t>.</a:t>
          </a:r>
          <a:endParaRPr lang="en-US"/>
        </a:p>
      </dgm:t>
    </dgm:pt>
    <dgm:pt modelId="{44C9BF3C-6BD3-468B-9C67-F0E7DE03E8E8}" type="parTrans" cxnId="{3E1EFC10-CD97-4A7B-8B99-CC48B07DF506}">
      <dgm:prSet/>
      <dgm:spPr/>
      <dgm:t>
        <a:bodyPr/>
        <a:lstStyle/>
        <a:p>
          <a:endParaRPr lang="en-US"/>
        </a:p>
      </dgm:t>
    </dgm:pt>
    <dgm:pt modelId="{C88439C9-D7AC-47CF-9574-9DAED783A16D}" type="sibTrans" cxnId="{3E1EFC10-CD97-4A7B-8B99-CC48B07DF506}">
      <dgm:prSet/>
      <dgm:spPr/>
      <dgm:t>
        <a:bodyPr/>
        <a:lstStyle/>
        <a:p>
          <a:endParaRPr lang="en-US"/>
        </a:p>
      </dgm:t>
    </dgm:pt>
    <dgm:pt modelId="{D6ADE4F7-1468-4904-91D5-E9C54E697709}">
      <dgm:prSet/>
      <dgm:spPr/>
      <dgm:t>
        <a:bodyPr/>
        <a:lstStyle/>
        <a:p>
          <a:r>
            <a:rPr lang="en-US"/>
            <a:t>Many wearable electronics communicate primarily with nearby devices</a:t>
          </a:r>
          <a:r>
            <a:rPr lang="en-US">
              <a:latin typeface="Grandview Display"/>
            </a:rPr>
            <a:t>.</a:t>
          </a:r>
          <a:endParaRPr lang="en-US"/>
        </a:p>
      </dgm:t>
    </dgm:pt>
    <dgm:pt modelId="{FC3B30A5-70EC-423E-956B-B7B39EE62E1C}" type="parTrans" cxnId="{EB8CF467-C843-4F27-B649-5AEF0CE16211}">
      <dgm:prSet/>
      <dgm:spPr/>
      <dgm:t>
        <a:bodyPr/>
        <a:lstStyle/>
        <a:p>
          <a:endParaRPr lang="en-US"/>
        </a:p>
      </dgm:t>
    </dgm:pt>
    <dgm:pt modelId="{4CD74D68-59FB-4836-B835-0E65E81B34F5}" type="sibTrans" cxnId="{EB8CF467-C843-4F27-B649-5AEF0CE16211}">
      <dgm:prSet/>
      <dgm:spPr/>
      <dgm:t>
        <a:bodyPr/>
        <a:lstStyle/>
        <a:p>
          <a:endParaRPr lang="en-US"/>
        </a:p>
      </dgm:t>
    </dgm:pt>
    <dgm:pt modelId="{6DC69F24-E24E-4126-8E8F-A8301C4DE1F3}">
      <dgm:prSet/>
      <dgm:spPr/>
      <dgm:t>
        <a:bodyPr/>
        <a:lstStyle/>
        <a:p>
          <a:r>
            <a:rPr lang="en-US"/>
            <a:t>Overlap of frequency bands causes interference</a:t>
          </a:r>
          <a:r>
            <a:rPr lang="en-US">
              <a:latin typeface="Grandview Display"/>
            </a:rPr>
            <a:t>.</a:t>
          </a:r>
          <a:endParaRPr lang="en-US"/>
        </a:p>
      </dgm:t>
    </dgm:pt>
    <dgm:pt modelId="{668D1BEF-C7DA-4254-AC35-3DFEB0DE4353}" type="parTrans" cxnId="{B72C4708-CBC8-4F97-ACF9-744957AD49E3}">
      <dgm:prSet/>
      <dgm:spPr/>
      <dgm:t>
        <a:bodyPr/>
        <a:lstStyle/>
        <a:p>
          <a:endParaRPr lang="en-US"/>
        </a:p>
      </dgm:t>
    </dgm:pt>
    <dgm:pt modelId="{7064EF62-745B-497C-8B6E-886C81A39B54}" type="sibTrans" cxnId="{B72C4708-CBC8-4F97-ACF9-744957AD49E3}">
      <dgm:prSet/>
      <dgm:spPr/>
      <dgm:t>
        <a:bodyPr/>
        <a:lstStyle/>
        <a:p>
          <a:endParaRPr lang="en-US"/>
        </a:p>
      </dgm:t>
    </dgm:pt>
    <dgm:pt modelId="{AAC7081F-7E35-4AE4-9AF7-CFC333EB3744}">
      <dgm:prSet/>
      <dgm:spPr/>
      <dgm:t>
        <a:bodyPr/>
        <a:lstStyle/>
        <a:p>
          <a:r>
            <a:rPr lang="en-US"/>
            <a:t>Results in distorted signals, data loss, or increased latency</a:t>
          </a:r>
        </a:p>
      </dgm:t>
    </dgm:pt>
    <dgm:pt modelId="{B79C5A09-C7B6-4113-A2B9-11360C8D6AC7}" type="parTrans" cxnId="{45152B2A-E4F5-4322-B2AF-A1A3F3EB915B}">
      <dgm:prSet/>
      <dgm:spPr/>
      <dgm:t>
        <a:bodyPr/>
        <a:lstStyle/>
        <a:p>
          <a:endParaRPr lang="en-US"/>
        </a:p>
      </dgm:t>
    </dgm:pt>
    <dgm:pt modelId="{0CD1A56B-B045-490A-850C-B6EE93D9BDBE}" type="sibTrans" cxnId="{45152B2A-E4F5-4322-B2AF-A1A3F3EB915B}">
      <dgm:prSet/>
      <dgm:spPr/>
      <dgm:t>
        <a:bodyPr/>
        <a:lstStyle/>
        <a:p>
          <a:endParaRPr lang="en-US"/>
        </a:p>
      </dgm:t>
    </dgm:pt>
    <dgm:pt modelId="{7D9EDF74-FC03-493C-BDDF-A3D9F4B0E08F}" type="pres">
      <dgm:prSet presAssocID="{F7C0F2B3-474E-47DB-8186-AF181A25BA5D}" presName="linear" presStyleCnt="0">
        <dgm:presLayoutVars>
          <dgm:animLvl val="lvl"/>
          <dgm:resizeHandles val="exact"/>
        </dgm:presLayoutVars>
      </dgm:prSet>
      <dgm:spPr/>
    </dgm:pt>
    <dgm:pt modelId="{F3F75E05-B2A6-4C08-9028-3D1A259C811C}" type="pres">
      <dgm:prSet presAssocID="{DCB3DAC4-C82E-43F9-9C35-6F1E2D3C0AC3}" presName="parentText" presStyleLbl="node1" presStyleIdx="0" presStyleCnt="7">
        <dgm:presLayoutVars>
          <dgm:chMax val="0"/>
          <dgm:bulletEnabled val="1"/>
        </dgm:presLayoutVars>
      </dgm:prSet>
      <dgm:spPr/>
    </dgm:pt>
    <dgm:pt modelId="{075D7AFA-4272-417A-86FC-F34028DCED23}" type="pres">
      <dgm:prSet presAssocID="{3B4EEC3A-B9D5-41AB-AD6F-5FE95F1F654A}" presName="spacer" presStyleCnt="0"/>
      <dgm:spPr/>
    </dgm:pt>
    <dgm:pt modelId="{C933461C-F1EB-4701-BE07-3459EF00E744}" type="pres">
      <dgm:prSet presAssocID="{A37A8413-AFE2-4FB7-BB6F-CDEFDAB55B31}" presName="parentText" presStyleLbl="node1" presStyleIdx="1" presStyleCnt="7">
        <dgm:presLayoutVars>
          <dgm:chMax val="0"/>
          <dgm:bulletEnabled val="1"/>
        </dgm:presLayoutVars>
      </dgm:prSet>
      <dgm:spPr/>
    </dgm:pt>
    <dgm:pt modelId="{36BA3797-D2F1-4AE6-AF1F-E38145801661}" type="pres">
      <dgm:prSet presAssocID="{110C55EB-34A5-4710-A82D-2A8AEA66C385}" presName="spacer" presStyleCnt="0"/>
      <dgm:spPr/>
    </dgm:pt>
    <dgm:pt modelId="{F69203B3-DC87-44E8-9CEA-012C690A52E0}" type="pres">
      <dgm:prSet presAssocID="{4E85C8FC-C10D-4555-8C7B-B40DBEDF7E61}" presName="parentText" presStyleLbl="node1" presStyleIdx="2" presStyleCnt="7">
        <dgm:presLayoutVars>
          <dgm:chMax val="0"/>
          <dgm:bulletEnabled val="1"/>
        </dgm:presLayoutVars>
      </dgm:prSet>
      <dgm:spPr/>
    </dgm:pt>
    <dgm:pt modelId="{31460B51-DAE4-40BC-85C4-5986435ED7C4}" type="pres">
      <dgm:prSet presAssocID="{A68252D2-5253-4025-94EC-F6CB888A317F}" presName="spacer" presStyleCnt="0"/>
      <dgm:spPr/>
    </dgm:pt>
    <dgm:pt modelId="{2CFC103B-8E5C-4167-A51C-593A0129BFD9}" type="pres">
      <dgm:prSet presAssocID="{22472D5C-C635-4990-9D30-DE8D5E83D98B}" presName="parentText" presStyleLbl="node1" presStyleIdx="3" presStyleCnt="7">
        <dgm:presLayoutVars>
          <dgm:chMax val="0"/>
          <dgm:bulletEnabled val="1"/>
        </dgm:presLayoutVars>
      </dgm:prSet>
      <dgm:spPr/>
    </dgm:pt>
    <dgm:pt modelId="{09C5FAFA-4135-48C6-B12B-0C55F432DA7D}" type="pres">
      <dgm:prSet presAssocID="{C88439C9-D7AC-47CF-9574-9DAED783A16D}" presName="spacer" presStyleCnt="0"/>
      <dgm:spPr/>
    </dgm:pt>
    <dgm:pt modelId="{974E699B-8050-42D4-ADC4-9AFA7E9DF5A9}" type="pres">
      <dgm:prSet presAssocID="{D6ADE4F7-1468-4904-91D5-E9C54E697709}" presName="parentText" presStyleLbl="node1" presStyleIdx="4" presStyleCnt="7">
        <dgm:presLayoutVars>
          <dgm:chMax val="0"/>
          <dgm:bulletEnabled val="1"/>
        </dgm:presLayoutVars>
      </dgm:prSet>
      <dgm:spPr/>
    </dgm:pt>
    <dgm:pt modelId="{4C45E2EC-AAB9-495B-A115-EF634E4E6350}" type="pres">
      <dgm:prSet presAssocID="{4CD74D68-59FB-4836-B835-0E65E81B34F5}" presName="spacer" presStyleCnt="0"/>
      <dgm:spPr/>
    </dgm:pt>
    <dgm:pt modelId="{22BB981E-DE3D-492A-88A1-D6EC14220A1A}" type="pres">
      <dgm:prSet presAssocID="{6DC69F24-E24E-4126-8E8F-A8301C4DE1F3}" presName="parentText" presStyleLbl="node1" presStyleIdx="5" presStyleCnt="7">
        <dgm:presLayoutVars>
          <dgm:chMax val="0"/>
          <dgm:bulletEnabled val="1"/>
        </dgm:presLayoutVars>
      </dgm:prSet>
      <dgm:spPr/>
    </dgm:pt>
    <dgm:pt modelId="{E76456D0-79A6-497B-BC17-DCB5760B0F5A}" type="pres">
      <dgm:prSet presAssocID="{7064EF62-745B-497C-8B6E-886C81A39B54}" presName="spacer" presStyleCnt="0"/>
      <dgm:spPr/>
    </dgm:pt>
    <dgm:pt modelId="{333663FA-BE7E-4243-817C-BCBFA35B8F3C}" type="pres">
      <dgm:prSet presAssocID="{AAC7081F-7E35-4AE4-9AF7-CFC333EB3744}" presName="parentText" presStyleLbl="node1" presStyleIdx="6" presStyleCnt="7">
        <dgm:presLayoutVars>
          <dgm:chMax val="0"/>
          <dgm:bulletEnabled val="1"/>
        </dgm:presLayoutVars>
      </dgm:prSet>
      <dgm:spPr/>
    </dgm:pt>
  </dgm:ptLst>
  <dgm:cxnLst>
    <dgm:cxn modelId="{B72C4708-CBC8-4F97-ACF9-744957AD49E3}" srcId="{F7C0F2B3-474E-47DB-8186-AF181A25BA5D}" destId="{6DC69F24-E24E-4126-8E8F-A8301C4DE1F3}" srcOrd="5" destOrd="0" parTransId="{668D1BEF-C7DA-4254-AC35-3DFEB0DE4353}" sibTransId="{7064EF62-745B-497C-8B6E-886C81A39B54}"/>
    <dgm:cxn modelId="{3E1EFC10-CD97-4A7B-8B99-CC48B07DF506}" srcId="{F7C0F2B3-474E-47DB-8186-AF181A25BA5D}" destId="{22472D5C-C635-4990-9D30-DE8D5E83D98B}" srcOrd="3" destOrd="0" parTransId="{44C9BF3C-6BD3-468B-9C67-F0E7DE03E8E8}" sibTransId="{C88439C9-D7AC-47CF-9574-9DAED783A16D}"/>
    <dgm:cxn modelId="{77601812-A291-4B5A-A968-6ECB08E070AE}" type="presOf" srcId="{4E85C8FC-C10D-4555-8C7B-B40DBEDF7E61}" destId="{F69203B3-DC87-44E8-9CEA-012C690A52E0}" srcOrd="0" destOrd="0" presId="urn:microsoft.com/office/officeart/2005/8/layout/vList2"/>
    <dgm:cxn modelId="{45152B2A-E4F5-4322-B2AF-A1A3F3EB915B}" srcId="{F7C0F2B3-474E-47DB-8186-AF181A25BA5D}" destId="{AAC7081F-7E35-4AE4-9AF7-CFC333EB3744}" srcOrd="6" destOrd="0" parTransId="{B79C5A09-C7B6-4113-A2B9-11360C8D6AC7}" sibTransId="{0CD1A56B-B045-490A-850C-B6EE93D9BDBE}"/>
    <dgm:cxn modelId="{FFA8692E-8D11-4E82-AC5E-7DCA2A0F624D}" srcId="{F7C0F2B3-474E-47DB-8186-AF181A25BA5D}" destId="{4E85C8FC-C10D-4555-8C7B-B40DBEDF7E61}" srcOrd="2" destOrd="0" parTransId="{E608DB04-C4B4-4FD1-B8A8-D0C736C83001}" sibTransId="{A68252D2-5253-4025-94EC-F6CB888A317F}"/>
    <dgm:cxn modelId="{EB8CF467-C843-4F27-B649-5AEF0CE16211}" srcId="{F7C0F2B3-474E-47DB-8186-AF181A25BA5D}" destId="{D6ADE4F7-1468-4904-91D5-E9C54E697709}" srcOrd="4" destOrd="0" parTransId="{FC3B30A5-70EC-423E-956B-B7B39EE62E1C}" sibTransId="{4CD74D68-59FB-4836-B835-0E65E81B34F5}"/>
    <dgm:cxn modelId="{BEDD8A73-900E-47E3-9413-C0B582F0F4BE}" type="presOf" srcId="{22472D5C-C635-4990-9D30-DE8D5E83D98B}" destId="{2CFC103B-8E5C-4167-A51C-593A0129BFD9}" srcOrd="0" destOrd="0" presId="urn:microsoft.com/office/officeart/2005/8/layout/vList2"/>
    <dgm:cxn modelId="{6216F375-2200-4434-AF84-43831E2CD3AA}" type="presOf" srcId="{DCB3DAC4-C82E-43F9-9C35-6F1E2D3C0AC3}" destId="{F3F75E05-B2A6-4C08-9028-3D1A259C811C}" srcOrd="0" destOrd="0" presId="urn:microsoft.com/office/officeart/2005/8/layout/vList2"/>
    <dgm:cxn modelId="{8B972C92-E363-4F68-8AB4-720F2A575146}" type="presOf" srcId="{A37A8413-AFE2-4FB7-BB6F-CDEFDAB55B31}" destId="{C933461C-F1EB-4701-BE07-3459EF00E744}" srcOrd="0" destOrd="0" presId="urn:microsoft.com/office/officeart/2005/8/layout/vList2"/>
    <dgm:cxn modelId="{0D5E659B-15E2-4207-AA0F-9E6B0614639E}" type="presOf" srcId="{AAC7081F-7E35-4AE4-9AF7-CFC333EB3744}" destId="{333663FA-BE7E-4243-817C-BCBFA35B8F3C}" srcOrd="0" destOrd="0" presId="urn:microsoft.com/office/officeart/2005/8/layout/vList2"/>
    <dgm:cxn modelId="{25DB72B4-F0F1-49E1-B9D6-769DD950C54A}" type="presOf" srcId="{6DC69F24-E24E-4126-8E8F-A8301C4DE1F3}" destId="{22BB981E-DE3D-492A-88A1-D6EC14220A1A}" srcOrd="0" destOrd="0" presId="urn:microsoft.com/office/officeart/2005/8/layout/vList2"/>
    <dgm:cxn modelId="{59EDEEC4-493B-4FFD-A349-3E72DC76359E}" type="presOf" srcId="{F7C0F2B3-474E-47DB-8186-AF181A25BA5D}" destId="{7D9EDF74-FC03-493C-BDDF-A3D9F4B0E08F}" srcOrd="0" destOrd="0" presId="urn:microsoft.com/office/officeart/2005/8/layout/vList2"/>
    <dgm:cxn modelId="{02F61CEF-8918-49BF-9057-08B34C097990}" type="presOf" srcId="{D6ADE4F7-1468-4904-91D5-E9C54E697709}" destId="{974E699B-8050-42D4-ADC4-9AFA7E9DF5A9}" srcOrd="0" destOrd="0" presId="urn:microsoft.com/office/officeart/2005/8/layout/vList2"/>
    <dgm:cxn modelId="{4742B4F2-1750-4BE6-8918-B1483BB3D6F7}" srcId="{F7C0F2B3-474E-47DB-8186-AF181A25BA5D}" destId="{DCB3DAC4-C82E-43F9-9C35-6F1E2D3C0AC3}" srcOrd="0" destOrd="0" parTransId="{D2C7E6D6-E559-4B13-A3A2-2DA14D86205B}" sibTransId="{3B4EEC3A-B9D5-41AB-AD6F-5FE95F1F654A}"/>
    <dgm:cxn modelId="{9E0EC9F3-B81F-44F3-BADC-519AFB379367}" srcId="{F7C0F2B3-474E-47DB-8186-AF181A25BA5D}" destId="{A37A8413-AFE2-4FB7-BB6F-CDEFDAB55B31}" srcOrd="1" destOrd="0" parTransId="{F99030DC-BBB7-4700-8461-C4D8C03FFB13}" sibTransId="{110C55EB-34A5-4710-A82D-2A8AEA66C385}"/>
    <dgm:cxn modelId="{90AC71C7-BC7C-4471-833C-19668255CF3F}" type="presParOf" srcId="{7D9EDF74-FC03-493C-BDDF-A3D9F4B0E08F}" destId="{F3F75E05-B2A6-4C08-9028-3D1A259C811C}" srcOrd="0" destOrd="0" presId="urn:microsoft.com/office/officeart/2005/8/layout/vList2"/>
    <dgm:cxn modelId="{EA095BFC-AD9E-4A05-99E4-96F8216885D9}" type="presParOf" srcId="{7D9EDF74-FC03-493C-BDDF-A3D9F4B0E08F}" destId="{075D7AFA-4272-417A-86FC-F34028DCED23}" srcOrd="1" destOrd="0" presId="urn:microsoft.com/office/officeart/2005/8/layout/vList2"/>
    <dgm:cxn modelId="{F55DE24E-E348-4695-8B3C-FEDDAF5831F2}" type="presParOf" srcId="{7D9EDF74-FC03-493C-BDDF-A3D9F4B0E08F}" destId="{C933461C-F1EB-4701-BE07-3459EF00E744}" srcOrd="2" destOrd="0" presId="urn:microsoft.com/office/officeart/2005/8/layout/vList2"/>
    <dgm:cxn modelId="{4D63B130-B26F-4412-9EBE-ED620D43F5A6}" type="presParOf" srcId="{7D9EDF74-FC03-493C-BDDF-A3D9F4B0E08F}" destId="{36BA3797-D2F1-4AE6-AF1F-E38145801661}" srcOrd="3" destOrd="0" presId="urn:microsoft.com/office/officeart/2005/8/layout/vList2"/>
    <dgm:cxn modelId="{47CCDD44-9124-4E9F-B741-9FB47C3C9471}" type="presParOf" srcId="{7D9EDF74-FC03-493C-BDDF-A3D9F4B0E08F}" destId="{F69203B3-DC87-44E8-9CEA-012C690A52E0}" srcOrd="4" destOrd="0" presId="urn:microsoft.com/office/officeart/2005/8/layout/vList2"/>
    <dgm:cxn modelId="{54B8A065-2CD8-460B-A85D-83D1414554EA}" type="presParOf" srcId="{7D9EDF74-FC03-493C-BDDF-A3D9F4B0E08F}" destId="{31460B51-DAE4-40BC-85C4-5986435ED7C4}" srcOrd="5" destOrd="0" presId="urn:microsoft.com/office/officeart/2005/8/layout/vList2"/>
    <dgm:cxn modelId="{D1AB2B28-D1F5-4404-8DC8-7E8CB064B88A}" type="presParOf" srcId="{7D9EDF74-FC03-493C-BDDF-A3D9F4B0E08F}" destId="{2CFC103B-8E5C-4167-A51C-593A0129BFD9}" srcOrd="6" destOrd="0" presId="urn:microsoft.com/office/officeart/2005/8/layout/vList2"/>
    <dgm:cxn modelId="{D9BF81EF-D00C-4A5A-B6B5-307376D14BB5}" type="presParOf" srcId="{7D9EDF74-FC03-493C-BDDF-A3D9F4B0E08F}" destId="{09C5FAFA-4135-48C6-B12B-0C55F432DA7D}" srcOrd="7" destOrd="0" presId="urn:microsoft.com/office/officeart/2005/8/layout/vList2"/>
    <dgm:cxn modelId="{EC615957-5CDD-4DF4-B963-A912C91B1A5D}" type="presParOf" srcId="{7D9EDF74-FC03-493C-BDDF-A3D9F4B0E08F}" destId="{974E699B-8050-42D4-ADC4-9AFA7E9DF5A9}" srcOrd="8" destOrd="0" presId="urn:microsoft.com/office/officeart/2005/8/layout/vList2"/>
    <dgm:cxn modelId="{4CA81A93-49B5-43C1-A5D1-59A658319A46}" type="presParOf" srcId="{7D9EDF74-FC03-493C-BDDF-A3D9F4B0E08F}" destId="{4C45E2EC-AAB9-495B-A115-EF634E4E6350}" srcOrd="9" destOrd="0" presId="urn:microsoft.com/office/officeart/2005/8/layout/vList2"/>
    <dgm:cxn modelId="{3C3721CC-6C8F-48E7-98DF-8C9C3A2F0A10}" type="presParOf" srcId="{7D9EDF74-FC03-493C-BDDF-A3D9F4B0E08F}" destId="{22BB981E-DE3D-492A-88A1-D6EC14220A1A}" srcOrd="10" destOrd="0" presId="urn:microsoft.com/office/officeart/2005/8/layout/vList2"/>
    <dgm:cxn modelId="{32BC7B15-5A53-4665-8DD5-F1F33AD2D3AB}" type="presParOf" srcId="{7D9EDF74-FC03-493C-BDDF-A3D9F4B0E08F}" destId="{E76456D0-79A6-497B-BC17-DCB5760B0F5A}" srcOrd="11" destOrd="0" presId="urn:microsoft.com/office/officeart/2005/8/layout/vList2"/>
    <dgm:cxn modelId="{39647983-24C7-4432-A8C2-65BB4E960509}" type="presParOf" srcId="{7D9EDF74-FC03-493C-BDDF-A3D9F4B0E08F}" destId="{333663FA-BE7E-4243-817C-BCBFA35B8F3C}"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CF26F1-C2D4-4EEC-89BE-3F0F7026169F}">
      <dsp:nvSpPr>
        <dsp:cNvPr id="0" name=""/>
        <dsp:cNvSpPr/>
      </dsp:nvSpPr>
      <dsp:spPr>
        <a:xfrm>
          <a:off x="751385" y="300379"/>
          <a:ext cx="800296" cy="800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305D27-FE72-4EA3-ACA3-FC94ECBD3BB8}">
      <dsp:nvSpPr>
        <dsp:cNvPr id="0" name=""/>
        <dsp:cNvSpPr/>
      </dsp:nvSpPr>
      <dsp:spPr>
        <a:xfrm>
          <a:off x="8252" y="1220298"/>
          <a:ext cx="2286562" cy="827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a:t>Physical Layer (PHY)</a:t>
          </a:r>
        </a:p>
      </dsp:txBody>
      <dsp:txXfrm>
        <a:off x="8252" y="1220298"/>
        <a:ext cx="2286562" cy="827315"/>
      </dsp:txXfrm>
    </dsp:sp>
    <dsp:sp modelId="{EE1C5014-95D3-4478-8423-933176A4F9EE}">
      <dsp:nvSpPr>
        <dsp:cNvPr id="0" name=""/>
        <dsp:cNvSpPr/>
      </dsp:nvSpPr>
      <dsp:spPr>
        <a:xfrm>
          <a:off x="8252" y="2103252"/>
          <a:ext cx="2286562" cy="9790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Outlines requirements for hardware (LE radio) used in data transmission and reception over the air.</a:t>
          </a:r>
        </a:p>
      </dsp:txBody>
      <dsp:txXfrm>
        <a:off x="8252" y="2103252"/>
        <a:ext cx="2286562" cy="979026"/>
      </dsp:txXfrm>
    </dsp:sp>
    <dsp:sp modelId="{48891417-24B2-4107-B147-1EB83325044A}">
      <dsp:nvSpPr>
        <dsp:cNvPr id="0" name=""/>
        <dsp:cNvSpPr/>
      </dsp:nvSpPr>
      <dsp:spPr>
        <a:xfrm>
          <a:off x="3438096" y="170076"/>
          <a:ext cx="800296" cy="800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EAD535-7A8A-4E96-BFC8-DB8DA0FE7552}">
      <dsp:nvSpPr>
        <dsp:cNvPr id="0" name=""/>
        <dsp:cNvSpPr/>
      </dsp:nvSpPr>
      <dsp:spPr>
        <a:xfrm>
          <a:off x="2694963" y="1101201"/>
          <a:ext cx="2286562" cy="827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a:t>Link Layer</a:t>
          </a:r>
        </a:p>
      </dsp:txBody>
      <dsp:txXfrm>
        <a:off x="2694963" y="1101201"/>
        <a:ext cx="2286562" cy="827315"/>
      </dsp:txXfrm>
    </dsp:sp>
    <dsp:sp modelId="{2F1ADEBB-AFF0-438C-9D0D-D1D42DE18556}">
      <dsp:nvSpPr>
        <dsp:cNvPr id="0" name=""/>
        <dsp:cNvSpPr/>
      </dsp:nvSpPr>
      <dsp:spPr>
        <a:xfrm>
          <a:off x="2694963" y="1989367"/>
          <a:ext cx="2286562" cy="1223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In charge of setting up LE radio to create communication links according to the kind of communication.</a:t>
          </a:r>
        </a:p>
      </dsp:txBody>
      <dsp:txXfrm>
        <a:off x="2694963" y="1989367"/>
        <a:ext cx="2286562" cy="1223214"/>
      </dsp:txXfrm>
    </dsp:sp>
    <dsp:sp modelId="{F2EB871E-A980-4F3E-B706-9C5DA7F11538}">
      <dsp:nvSpPr>
        <dsp:cNvPr id="0" name=""/>
        <dsp:cNvSpPr/>
      </dsp:nvSpPr>
      <dsp:spPr>
        <a:xfrm>
          <a:off x="6124807" y="170076"/>
          <a:ext cx="800296" cy="800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724811-2D99-471A-B866-AD1BD2BE78AF}">
      <dsp:nvSpPr>
        <dsp:cNvPr id="0" name=""/>
        <dsp:cNvSpPr/>
      </dsp:nvSpPr>
      <dsp:spPr>
        <a:xfrm>
          <a:off x="5381674" y="1101201"/>
          <a:ext cx="2286562" cy="827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a:t>Host Controller Interface (HCI) Layer</a:t>
          </a:r>
        </a:p>
      </dsp:txBody>
      <dsp:txXfrm>
        <a:off x="5381674" y="1101201"/>
        <a:ext cx="2286562" cy="827315"/>
      </dsp:txXfrm>
    </dsp:sp>
    <dsp:sp modelId="{17E8E44F-5AFC-48F8-8D4A-B7DA1D989304}">
      <dsp:nvSpPr>
        <dsp:cNvPr id="0" name=""/>
        <dsp:cNvSpPr/>
      </dsp:nvSpPr>
      <dsp:spPr>
        <a:xfrm>
          <a:off x="5381674" y="1989367"/>
          <a:ext cx="2286562" cy="1223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Serves as an interface between host's higher-level protocols and controller's lower-level protocols.</a:t>
          </a:r>
        </a:p>
      </dsp:txBody>
      <dsp:txXfrm>
        <a:off x="5381674" y="1989367"/>
        <a:ext cx="2286562" cy="1223214"/>
      </dsp:txXfrm>
    </dsp:sp>
    <dsp:sp modelId="{440E54AF-17A6-438B-A2D8-F645B8C795E8}">
      <dsp:nvSpPr>
        <dsp:cNvPr id="0" name=""/>
        <dsp:cNvSpPr/>
      </dsp:nvSpPr>
      <dsp:spPr>
        <a:xfrm>
          <a:off x="8811517" y="170076"/>
          <a:ext cx="800296" cy="800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53F77F-DAFD-4C9E-A029-59BE3092A963}">
      <dsp:nvSpPr>
        <dsp:cNvPr id="0" name=""/>
        <dsp:cNvSpPr/>
      </dsp:nvSpPr>
      <dsp:spPr>
        <a:xfrm>
          <a:off x="8068385" y="1101201"/>
          <a:ext cx="2286562" cy="827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a:t>Logical Link Control &amp; Adaptation Protocol Layer (L2CAP)</a:t>
          </a:r>
        </a:p>
      </dsp:txBody>
      <dsp:txXfrm>
        <a:off x="8068385" y="1101201"/>
        <a:ext cx="2286562" cy="827315"/>
      </dsp:txXfrm>
    </dsp:sp>
    <dsp:sp modelId="{705EDEAA-2811-4D75-AD28-0F446E31203E}">
      <dsp:nvSpPr>
        <dsp:cNvPr id="0" name=""/>
        <dsp:cNvSpPr/>
      </dsp:nvSpPr>
      <dsp:spPr>
        <a:xfrm>
          <a:off x="8068385" y="1989367"/>
          <a:ext cx="2286562" cy="1223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Facilitates communication between BLE stack's top and bottom layers.</a:t>
          </a:r>
        </a:p>
      </dsp:txBody>
      <dsp:txXfrm>
        <a:off x="8068385" y="1989367"/>
        <a:ext cx="2286562" cy="12232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E01C51-ECB0-466D-9463-49DCA2D2C438}">
      <dsp:nvSpPr>
        <dsp:cNvPr id="0" name=""/>
        <dsp:cNvSpPr/>
      </dsp:nvSpPr>
      <dsp:spPr>
        <a:xfrm>
          <a:off x="760033" y="106180"/>
          <a:ext cx="798734" cy="7493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C401BB-3D3D-494A-B85D-D09C41EC9521}">
      <dsp:nvSpPr>
        <dsp:cNvPr id="0" name=""/>
        <dsp:cNvSpPr/>
      </dsp:nvSpPr>
      <dsp:spPr>
        <a:xfrm>
          <a:off x="18351" y="991825"/>
          <a:ext cx="2282098" cy="522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a:t>Security Manager (SM)</a:t>
          </a:r>
        </a:p>
      </dsp:txBody>
      <dsp:txXfrm>
        <a:off x="18351" y="991825"/>
        <a:ext cx="2282098" cy="522359"/>
      </dsp:txXfrm>
    </dsp:sp>
    <dsp:sp modelId="{F0D87442-9292-4C5A-B599-D7A88DC0709E}">
      <dsp:nvSpPr>
        <dsp:cNvPr id="0" name=""/>
        <dsp:cNvSpPr/>
      </dsp:nvSpPr>
      <dsp:spPr>
        <a:xfrm>
          <a:off x="18351" y="1577591"/>
          <a:ext cx="2282098" cy="1698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Outlines how LE devices are paired, authenticated, and encrypted.</a:t>
          </a:r>
        </a:p>
        <a:p>
          <a:pPr marL="0" lvl="0" indent="0" algn="ctr" defTabSz="711200">
            <a:lnSpc>
              <a:spcPct val="100000"/>
            </a:lnSpc>
            <a:spcBef>
              <a:spcPct val="0"/>
            </a:spcBef>
            <a:spcAft>
              <a:spcPct val="35000"/>
            </a:spcAft>
            <a:buNone/>
          </a:pPr>
          <a:r>
            <a:rPr lang="en-US" sz="1600" kern="1200"/>
            <a:t>Guards against tracking, Man-in-the-Middle attacks, and passive eavesdropping.</a:t>
          </a:r>
        </a:p>
      </dsp:txBody>
      <dsp:txXfrm>
        <a:off x="18351" y="1577591"/>
        <a:ext cx="2282098" cy="1698886"/>
      </dsp:txXfrm>
    </dsp:sp>
    <dsp:sp modelId="{70C5E758-B3B8-4F0D-AD00-F9132B260E4B}">
      <dsp:nvSpPr>
        <dsp:cNvPr id="0" name=""/>
        <dsp:cNvSpPr/>
      </dsp:nvSpPr>
      <dsp:spPr>
        <a:xfrm>
          <a:off x="3441499" y="106180"/>
          <a:ext cx="798734" cy="7493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6351CF-04D2-4F53-B98F-1FBC9C431777}">
      <dsp:nvSpPr>
        <dsp:cNvPr id="0" name=""/>
        <dsp:cNvSpPr/>
      </dsp:nvSpPr>
      <dsp:spPr>
        <a:xfrm>
          <a:off x="2699817" y="991825"/>
          <a:ext cx="2282098" cy="522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US" sz="1800" kern="1200"/>
            <a:t>Attribute Protocol (ATT)</a:t>
          </a:r>
        </a:p>
      </dsp:txBody>
      <dsp:txXfrm>
        <a:off x="2699817" y="991825"/>
        <a:ext cx="2282098" cy="522359"/>
      </dsp:txXfrm>
    </dsp:sp>
    <dsp:sp modelId="{DE185E26-94D0-47D0-987B-4CD42A5E699C}">
      <dsp:nvSpPr>
        <dsp:cNvPr id="0" name=""/>
        <dsp:cNvSpPr/>
      </dsp:nvSpPr>
      <dsp:spPr>
        <a:xfrm>
          <a:off x="2699817" y="1577591"/>
          <a:ext cx="2282098" cy="1698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Data type known as an attribute is used by LE devices to store data.</a:t>
          </a:r>
        </a:p>
        <a:p>
          <a:pPr marL="0" lvl="0" indent="0" algn="ctr" defTabSz="711200">
            <a:lnSpc>
              <a:spcPct val="100000"/>
            </a:lnSpc>
            <a:spcBef>
              <a:spcPct val="0"/>
            </a:spcBef>
            <a:spcAft>
              <a:spcPct val="35000"/>
            </a:spcAft>
            <a:buNone/>
          </a:pPr>
          <a:r>
            <a:rPr lang="en-US" sz="1600" kern="1200"/>
            <a:t>An attribute's structure and access permissions (read, write, read-only, etc.) are specified by the ATT.</a:t>
          </a:r>
        </a:p>
      </dsp:txBody>
      <dsp:txXfrm>
        <a:off x="2699817" y="1577591"/>
        <a:ext cx="2282098" cy="1698886"/>
      </dsp:txXfrm>
    </dsp:sp>
    <dsp:sp modelId="{E308C855-7B02-4AE1-8F50-6148C347197E}">
      <dsp:nvSpPr>
        <dsp:cNvPr id="0" name=""/>
        <dsp:cNvSpPr/>
      </dsp:nvSpPr>
      <dsp:spPr>
        <a:xfrm>
          <a:off x="6122965" y="106180"/>
          <a:ext cx="798734" cy="7493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4C940E-1AF5-46F3-B1AF-61D98893C2F4}">
      <dsp:nvSpPr>
        <dsp:cNvPr id="0" name=""/>
        <dsp:cNvSpPr/>
      </dsp:nvSpPr>
      <dsp:spPr>
        <a:xfrm>
          <a:off x="5381283" y="991825"/>
          <a:ext cx="2282098" cy="522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US" sz="1700" kern="1200"/>
            <a:t>Generic Attribute Profile (GATT)</a:t>
          </a:r>
        </a:p>
      </dsp:txBody>
      <dsp:txXfrm>
        <a:off x="5381283" y="991825"/>
        <a:ext cx="2282098" cy="522359"/>
      </dsp:txXfrm>
    </dsp:sp>
    <dsp:sp modelId="{60A72764-3F21-41AB-A006-EDCE0F7078F0}">
      <dsp:nvSpPr>
        <dsp:cNvPr id="0" name=""/>
        <dsp:cNvSpPr/>
      </dsp:nvSpPr>
      <dsp:spPr>
        <a:xfrm>
          <a:off x="5381283" y="1577591"/>
          <a:ext cx="2282098" cy="1698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Offers a file-folder-based hierarchical data structure.</a:t>
          </a:r>
        </a:p>
      </dsp:txBody>
      <dsp:txXfrm>
        <a:off x="5381283" y="1577591"/>
        <a:ext cx="2282098" cy="1698886"/>
      </dsp:txXfrm>
    </dsp:sp>
    <dsp:sp modelId="{3948A7CB-1D01-40BE-B3F6-F5A429928D68}">
      <dsp:nvSpPr>
        <dsp:cNvPr id="0" name=""/>
        <dsp:cNvSpPr/>
      </dsp:nvSpPr>
      <dsp:spPr>
        <a:xfrm>
          <a:off x="8804431" y="106180"/>
          <a:ext cx="798734" cy="74932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50C567-C843-4196-88F8-3BC6CD979A56}">
      <dsp:nvSpPr>
        <dsp:cNvPr id="0" name=""/>
        <dsp:cNvSpPr/>
      </dsp:nvSpPr>
      <dsp:spPr>
        <a:xfrm>
          <a:off x="8062749" y="991825"/>
          <a:ext cx="2282098" cy="522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US" sz="1700" kern="1200"/>
            <a:t>Generic Access Profile (GAP)</a:t>
          </a:r>
        </a:p>
      </dsp:txBody>
      <dsp:txXfrm>
        <a:off x="8062749" y="991825"/>
        <a:ext cx="2282098" cy="522359"/>
      </dsp:txXfrm>
    </dsp:sp>
    <dsp:sp modelId="{664D3429-3164-4D98-AAE0-D7D2FE55D761}">
      <dsp:nvSpPr>
        <dsp:cNvPr id="0" name=""/>
        <dsp:cNvSpPr/>
      </dsp:nvSpPr>
      <dsp:spPr>
        <a:xfrm>
          <a:off x="8062749" y="1577591"/>
          <a:ext cx="2282098" cy="1698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Outlines how a BLE device can connect or broadcast to other devices.</a:t>
          </a:r>
        </a:p>
      </dsp:txBody>
      <dsp:txXfrm>
        <a:off x="8062749" y="1577591"/>
        <a:ext cx="2282098" cy="16988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F75E05-B2A6-4C08-9028-3D1A259C811C}">
      <dsp:nvSpPr>
        <dsp:cNvPr id="0" name=""/>
        <dsp:cNvSpPr/>
      </dsp:nvSpPr>
      <dsp:spPr>
        <a:xfrm>
          <a:off x="0" y="705341"/>
          <a:ext cx="10700566" cy="4797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Faster data transfer and broader coverage come at the cost of power consumption</a:t>
          </a:r>
          <a:r>
            <a:rPr lang="en-US" sz="2000" kern="1200">
              <a:latin typeface="Grandview Display"/>
            </a:rPr>
            <a:t>.</a:t>
          </a:r>
          <a:endParaRPr lang="en-US" sz="2000" kern="1200"/>
        </a:p>
      </dsp:txBody>
      <dsp:txXfrm>
        <a:off x="23417" y="728758"/>
        <a:ext cx="10653732" cy="432866"/>
      </dsp:txXfrm>
    </dsp:sp>
    <dsp:sp modelId="{C933461C-F1EB-4701-BE07-3459EF00E744}">
      <dsp:nvSpPr>
        <dsp:cNvPr id="0" name=""/>
        <dsp:cNvSpPr/>
      </dsp:nvSpPr>
      <dsp:spPr>
        <a:xfrm>
          <a:off x="0" y="1242641"/>
          <a:ext cx="10700566" cy="4797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Applications that require frequent data transmission require rapid low-latency communication</a:t>
          </a:r>
          <a:r>
            <a:rPr lang="en-US" sz="2000" kern="1200">
              <a:latin typeface="Grandview Display"/>
            </a:rPr>
            <a:t>.</a:t>
          </a:r>
          <a:endParaRPr lang="en-US" sz="2000" kern="1200"/>
        </a:p>
      </dsp:txBody>
      <dsp:txXfrm>
        <a:off x="23417" y="1266058"/>
        <a:ext cx="10653732" cy="432866"/>
      </dsp:txXfrm>
    </dsp:sp>
    <dsp:sp modelId="{F69203B3-DC87-44E8-9CEA-012C690A52E0}">
      <dsp:nvSpPr>
        <dsp:cNvPr id="0" name=""/>
        <dsp:cNvSpPr/>
      </dsp:nvSpPr>
      <dsp:spPr>
        <a:xfrm>
          <a:off x="0" y="1779942"/>
          <a:ext cx="10700566" cy="4797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Devices that only transmit data periodically can function with slower speeds</a:t>
          </a:r>
          <a:r>
            <a:rPr lang="en-US" sz="2000" kern="1200">
              <a:latin typeface="Grandview Display"/>
            </a:rPr>
            <a:t>.</a:t>
          </a:r>
          <a:endParaRPr lang="en-US" sz="2000" kern="1200"/>
        </a:p>
      </dsp:txBody>
      <dsp:txXfrm>
        <a:off x="23417" y="1803359"/>
        <a:ext cx="10653732" cy="432866"/>
      </dsp:txXfrm>
    </dsp:sp>
    <dsp:sp modelId="{2CFC103B-8E5C-4167-A51C-593A0129BFD9}">
      <dsp:nvSpPr>
        <dsp:cNvPr id="0" name=""/>
        <dsp:cNvSpPr/>
      </dsp:nvSpPr>
      <dsp:spPr>
        <a:xfrm>
          <a:off x="0" y="2317242"/>
          <a:ext cx="10700566" cy="4797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Long-range communication provides greater mobility but requires more energy</a:t>
          </a:r>
          <a:r>
            <a:rPr lang="en-US" sz="2000" kern="1200">
              <a:latin typeface="Grandview Display"/>
            </a:rPr>
            <a:t>.</a:t>
          </a:r>
          <a:endParaRPr lang="en-US" sz="2000" kern="1200"/>
        </a:p>
      </dsp:txBody>
      <dsp:txXfrm>
        <a:off x="23417" y="2340659"/>
        <a:ext cx="10653732" cy="432866"/>
      </dsp:txXfrm>
    </dsp:sp>
    <dsp:sp modelId="{974E699B-8050-42D4-ADC4-9AFA7E9DF5A9}">
      <dsp:nvSpPr>
        <dsp:cNvPr id="0" name=""/>
        <dsp:cNvSpPr/>
      </dsp:nvSpPr>
      <dsp:spPr>
        <a:xfrm>
          <a:off x="0" y="2854542"/>
          <a:ext cx="10700566" cy="4797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Many wearable electronics communicate primarily with nearby devices</a:t>
          </a:r>
          <a:r>
            <a:rPr lang="en-US" sz="2000" kern="1200">
              <a:latin typeface="Grandview Display"/>
            </a:rPr>
            <a:t>.</a:t>
          </a:r>
          <a:endParaRPr lang="en-US" sz="2000" kern="1200"/>
        </a:p>
      </dsp:txBody>
      <dsp:txXfrm>
        <a:off x="23417" y="2877959"/>
        <a:ext cx="10653732" cy="432866"/>
      </dsp:txXfrm>
    </dsp:sp>
    <dsp:sp modelId="{22BB981E-DE3D-492A-88A1-D6EC14220A1A}">
      <dsp:nvSpPr>
        <dsp:cNvPr id="0" name=""/>
        <dsp:cNvSpPr/>
      </dsp:nvSpPr>
      <dsp:spPr>
        <a:xfrm>
          <a:off x="0" y="3391842"/>
          <a:ext cx="10700566" cy="4797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Overlap of frequency bands causes interference</a:t>
          </a:r>
          <a:r>
            <a:rPr lang="en-US" sz="2000" kern="1200">
              <a:latin typeface="Grandview Display"/>
            </a:rPr>
            <a:t>.</a:t>
          </a:r>
          <a:endParaRPr lang="en-US" sz="2000" kern="1200"/>
        </a:p>
      </dsp:txBody>
      <dsp:txXfrm>
        <a:off x="23417" y="3415259"/>
        <a:ext cx="10653732" cy="432866"/>
      </dsp:txXfrm>
    </dsp:sp>
    <dsp:sp modelId="{333663FA-BE7E-4243-817C-BCBFA35B8F3C}">
      <dsp:nvSpPr>
        <dsp:cNvPr id="0" name=""/>
        <dsp:cNvSpPr/>
      </dsp:nvSpPr>
      <dsp:spPr>
        <a:xfrm>
          <a:off x="0" y="3929142"/>
          <a:ext cx="10700566" cy="4797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Results in distorted signals, data loss, or increased latency</a:t>
          </a:r>
        </a:p>
      </dsp:txBody>
      <dsp:txXfrm>
        <a:off x="23417" y="3952559"/>
        <a:ext cx="10653732" cy="432866"/>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D5C347-B774-4EBF-B57E-2F185646FFA3}" type="datetimeFigureOut">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462C12-906E-4C06-B7DC-599B4E5A2871}" type="slidenum">
              <a:t>‹#›</a:t>
            </a:fld>
            <a:endParaRPr lang="en-US"/>
          </a:p>
        </p:txBody>
      </p:sp>
    </p:spTree>
    <p:extLst>
      <p:ext uri="{BB962C8B-B14F-4D97-AF65-F5344CB8AC3E}">
        <p14:creationId xmlns:p14="http://schemas.microsoft.com/office/powerpoint/2010/main" val="2476313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BLE vs Bluetooth: Bluetooth's constant communication is better for streaming music from your phone to your headphones, but this incurs higher power costs. An effective use for BLE would be a sensor that sends out information once every few seconds so keeping communication open is unnecessary.</a:t>
            </a:r>
          </a:p>
          <a:p>
            <a:endParaRPr lang="en-US">
              <a:ea typeface="Calibri"/>
              <a:cs typeface="Calibri"/>
            </a:endParaRPr>
          </a:p>
          <a:p>
            <a:r>
              <a:rPr lang="en-US">
                <a:ea typeface="Calibri"/>
                <a:cs typeface="Calibri"/>
              </a:rPr>
              <a:t>Additionally, BLE is easily integrated with smart phones and other wireless applications allowing for easy integration of the antenna into a larger system.</a:t>
            </a:r>
          </a:p>
        </p:txBody>
      </p:sp>
      <p:sp>
        <p:nvSpPr>
          <p:cNvPr id="4" name="Slide Number Placeholder 3"/>
          <p:cNvSpPr>
            <a:spLocks noGrp="1"/>
          </p:cNvSpPr>
          <p:nvPr>
            <p:ph type="sldNum" sz="quarter" idx="5"/>
          </p:nvPr>
        </p:nvSpPr>
        <p:spPr/>
        <p:txBody>
          <a:bodyPr/>
          <a:lstStyle/>
          <a:p>
            <a:fld id="{6E462C12-906E-4C06-B7DC-599B4E5A2871}" type="slidenum">
              <a:t>3</a:t>
            </a:fld>
            <a:endParaRPr lang="en-US"/>
          </a:p>
        </p:txBody>
      </p:sp>
    </p:spTree>
    <p:extLst>
      <p:ext uri="{BB962C8B-B14F-4D97-AF65-F5344CB8AC3E}">
        <p14:creationId xmlns:p14="http://schemas.microsoft.com/office/powerpoint/2010/main" val="1791342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9/21/2026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42538664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9/21/2026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048139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9/21/2026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590724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9/21/2026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027158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9/21/2026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4248358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9/21/2026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453336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9/21/2026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170426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9/21/2026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52216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9/21/2026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041262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9/21/2026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4247390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9/21/2026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989023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9/21/2026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a:t>
            </a:fld>
            <a:endParaRPr lang="en-US"/>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64046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8" Type="http://schemas.openxmlformats.org/officeDocument/2006/relationships/hyperlink" Target="https://pubmed.ncbi.nlm.nih.gov/35161734/" TargetMode="External"/><Relationship Id="rId3" Type="http://schemas.openxmlformats.org/officeDocument/2006/relationships/hyperlink" Target="https://www.antenna-theory.com/" TargetMode="External"/><Relationship Id="rId7" Type="http://schemas.openxmlformats.org/officeDocument/2006/relationships/hyperlink" Target="https://novelbits.io/bluetooth-low-energy-ble-complete-guide/" TargetMode="External"/><Relationship Id="rId2" Type="http://schemas.openxmlformats.org/officeDocument/2006/relationships/hyperlink" Target="https://www.antenna-theory.com/antennas/patches/pifa.php" TargetMode="External"/><Relationship Id="rId1" Type="http://schemas.openxmlformats.org/officeDocument/2006/relationships/slideLayout" Target="../slideLayouts/slideLayout2.xml"/><Relationship Id="rId6" Type="http://schemas.openxmlformats.org/officeDocument/2006/relationships/hyperlink" Target="https://www.researchgate.net/figure/Schematic-diagram-of-the-PIFA-antenna_fig1_216605700" TargetMode="External"/><Relationship Id="rId11" Type="http://schemas.openxmlformats.org/officeDocument/2006/relationships/hyperlink" Target="https://niremf.ifac.cnr.it/tissprop/htmlclie/htmlclie.php" TargetMode="External"/><Relationship Id="rId5" Type="http://schemas.openxmlformats.org/officeDocument/2006/relationships/hyperlink" Target="https://www.5gtechnologyworld.com/demonstrating-antenna-diversity-part-2-the-pifa/" TargetMode="External"/><Relationship Id="rId10" Type="http://schemas.openxmlformats.org/officeDocument/2006/relationships/hyperlink" Target="https://www.allaboutcircuits.com/technical-articles/exploring-the-basics-of-bluetooth-low-energy-a-beginners-guide-to-ble/#:~:text=Introduced%20in%202010%20as%20a%20part%20of,they%20used%20up%20too%20much%20battery%20power" TargetMode="External"/><Relationship Id="rId4" Type="http://schemas.openxmlformats.org/officeDocument/2006/relationships/hyperlink" Target="https://www.sciencedirect.com/topics/engineering/monopole-antenna" TargetMode="External"/><Relationship Id="rId9" Type="http://schemas.openxmlformats.org/officeDocument/2006/relationships/hyperlink" Target="https://advanced.onlinelibrary.wiley.com/doi/10.1002/aelm.202400884?af=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25561" y="1006258"/>
            <a:ext cx="5935540" cy="2696866"/>
          </a:xfrm>
        </p:spPr>
        <p:txBody>
          <a:bodyPr>
            <a:normAutofit fontScale="90000"/>
          </a:bodyPr>
          <a:lstStyle/>
          <a:p>
            <a:r>
              <a:rPr lang="en-US" sz="7200">
                <a:latin typeface="Grandview Display"/>
              </a:rPr>
              <a:t>Wearable BLE Heart Monitor PIFA Antenna</a:t>
            </a:r>
          </a:p>
        </p:txBody>
      </p:sp>
      <p:sp>
        <p:nvSpPr>
          <p:cNvPr id="3" name="Subtitle 2"/>
          <p:cNvSpPr>
            <a:spLocks noGrp="1"/>
          </p:cNvSpPr>
          <p:nvPr>
            <p:ph type="subTitle" idx="1"/>
          </p:nvPr>
        </p:nvSpPr>
        <p:spPr>
          <a:xfrm>
            <a:off x="1096029" y="4508985"/>
            <a:ext cx="9989505" cy="922699"/>
          </a:xfrm>
        </p:spPr>
        <p:txBody>
          <a:bodyPr vert="horz" lIns="91440" tIns="45720" rIns="91440" bIns="45720" rtlCol="0" anchor="t">
            <a:normAutofit/>
          </a:bodyPr>
          <a:lstStyle/>
          <a:p>
            <a:pPr algn="ctr"/>
            <a:r>
              <a:rPr lang="en-US"/>
              <a:t>Team 4: Craig Vonderheide, Hayden Michel, Isaac Feeny,  Mika Kretzmann-Clough, Sasha Strauss</a:t>
            </a:r>
          </a:p>
        </p:txBody>
      </p:sp>
      <p:sp>
        <p:nvSpPr>
          <p:cNvPr id="5" name="Rectangle 4">
            <a:extLst>
              <a:ext uri="{FF2B5EF4-FFF2-40B4-BE49-F238E27FC236}">
                <a16:creationId xmlns:a16="http://schemas.microsoft.com/office/drawing/2014/main" id="{60E8866A-D80D-07B3-2ABD-F284F743714E}"/>
              </a:ext>
            </a:extLst>
          </p:cNvPr>
          <p:cNvSpPr/>
          <p:nvPr/>
        </p:nvSpPr>
        <p:spPr>
          <a:xfrm>
            <a:off x="1103436" y="4167083"/>
            <a:ext cx="9990447" cy="14346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2122AC8-DAA5-784B-E7E5-41C5FEF501F2}"/>
              </a:ext>
            </a:extLst>
          </p:cNvPr>
          <p:cNvSpPr/>
          <p:nvPr/>
        </p:nvSpPr>
        <p:spPr>
          <a:xfrm>
            <a:off x="547778" y="652118"/>
            <a:ext cx="1852015" cy="678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622A-1A71-0722-CFD3-E786C7891DFB}"/>
              </a:ext>
            </a:extLst>
          </p:cNvPr>
          <p:cNvSpPr>
            <a:spLocks noGrp="1"/>
          </p:cNvSpPr>
          <p:nvPr>
            <p:ph type="title"/>
          </p:nvPr>
        </p:nvSpPr>
        <p:spPr>
          <a:xfrm>
            <a:off x="433087" y="365125"/>
            <a:ext cx="10920713" cy="1344854"/>
          </a:xfrm>
        </p:spPr>
        <p:txBody>
          <a:bodyPr/>
          <a:lstStyle/>
          <a:p>
            <a:r>
              <a:rPr lang="en-US"/>
              <a:t>Assumptions and Heart Monitor Considerations</a:t>
            </a:r>
          </a:p>
        </p:txBody>
      </p:sp>
      <p:sp>
        <p:nvSpPr>
          <p:cNvPr id="3" name="Content Placeholder 2">
            <a:extLst>
              <a:ext uri="{FF2B5EF4-FFF2-40B4-BE49-F238E27FC236}">
                <a16:creationId xmlns:a16="http://schemas.microsoft.com/office/drawing/2014/main" id="{F89841A9-A765-7449-D16E-01F43C6E88CE}"/>
              </a:ext>
            </a:extLst>
          </p:cNvPr>
          <p:cNvSpPr>
            <a:spLocks noGrp="1"/>
          </p:cNvSpPr>
          <p:nvPr>
            <p:ph idx="1"/>
          </p:nvPr>
        </p:nvSpPr>
        <p:spPr>
          <a:xfrm>
            <a:off x="914399" y="1379637"/>
            <a:ext cx="10603282" cy="4451316"/>
          </a:xfrm>
        </p:spPr>
        <p:txBody>
          <a:bodyPr vert="horz" lIns="91440" tIns="45720" rIns="91440" bIns="45720" rtlCol="0" anchor="t">
            <a:normAutofit/>
          </a:bodyPr>
          <a:lstStyle/>
          <a:p>
            <a:r>
              <a:rPr lang="en-US"/>
              <a:t>We are designing a PIFA antenna to transmit data from a wearable heart monitor using BLE.</a:t>
            </a:r>
          </a:p>
          <a:p>
            <a:r>
              <a:rPr lang="en-US"/>
              <a:t>We are assuming that there is a strong input signal which can be efficiently transmitted by the PIFA antenna.</a:t>
            </a:r>
          </a:p>
          <a:p>
            <a:r>
              <a:rPr lang="en-US"/>
              <a:t>We are assuming the antenna will be mounted on the wearable device itself rather than directly on the human body, so factors due to skin and the rest of the body were not considered.</a:t>
            </a:r>
          </a:p>
          <a:p>
            <a:r>
              <a:rPr lang="en-US"/>
              <a:t>We are assuming the wearable itself will have minimal impact on antenna performance.</a:t>
            </a:r>
          </a:p>
          <a:p>
            <a:r>
              <a:rPr lang="en-US"/>
              <a:t>The PIFA antenna we are using will have a ground plane and shield the body from most of the radiation. Additionally, BLE is intentionally lower power so there shouldn't be any safety concerns due to this antenna.</a:t>
            </a:r>
          </a:p>
        </p:txBody>
      </p:sp>
    </p:spTree>
    <p:extLst>
      <p:ext uri="{BB962C8B-B14F-4D97-AF65-F5344CB8AC3E}">
        <p14:creationId xmlns:p14="http://schemas.microsoft.com/office/powerpoint/2010/main" val="687673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blue and white logo&#10;&#10;AI-generated content may be incorrect.">
            <a:extLst>
              <a:ext uri="{FF2B5EF4-FFF2-40B4-BE49-F238E27FC236}">
                <a16:creationId xmlns:a16="http://schemas.microsoft.com/office/drawing/2014/main" id="{994D18FB-15FA-6FE2-A6B4-6A658F9A322A}"/>
              </a:ext>
            </a:extLst>
          </p:cNvPr>
          <p:cNvPicPr>
            <a:picLocks noChangeAspect="1"/>
          </p:cNvPicPr>
          <p:nvPr/>
        </p:nvPicPr>
        <p:blipFill>
          <a:blip r:embed="rId3"/>
          <a:stretch>
            <a:fillRect/>
          </a:stretch>
        </p:blipFill>
        <p:spPr>
          <a:xfrm>
            <a:off x="6446280" y="2226012"/>
            <a:ext cx="5053658" cy="2403880"/>
          </a:xfrm>
          <a:prstGeom prst="rect">
            <a:avLst/>
          </a:prstGeom>
        </p:spPr>
      </p:pic>
      <p:sp>
        <p:nvSpPr>
          <p:cNvPr id="2" name="Title 1">
            <a:extLst>
              <a:ext uri="{FF2B5EF4-FFF2-40B4-BE49-F238E27FC236}">
                <a16:creationId xmlns:a16="http://schemas.microsoft.com/office/drawing/2014/main" id="{C31054F9-7EBB-630A-1FB5-3A96752E84BB}"/>
              </a:ext>
            </a:extLst>
          </p:cNvPr>
          <p:cNvSpPr>
            <a:spLocks noGrp="1"/>
          </p:cNvSpPr>
          <p:nvPr>
            <p:ph type="title"/>
          </p:nvPr>
        </p:nvSpPr>
        <p:spPr>
          <a:xfrm>
            <a:off x="757960" y="222195"/>
            <a:ext cx="10316010" cy="1597228"/>
          </a:xfrm>
        </p:spPr>
        <p:txBody>
          <a:bodyPr>
            <a:normAutofit/>
          </a:bodyPr>
          <a:lstStyle/>
          <a:p>
            <a:r>
              <a:rPr lang="en-US"/>
              <a:t>Bluetooth Low Energy (BLE) Basics</a:t>
            </a:r>
          </a:p>
        </p:txBody>
      </p:sp>
      <p:sp>
        <p:nvSpPr>
          <p:cNvPr id="3" name="Content Placeholder 2">
            <a:extLst>
              <a:ext uri="{FF2B5EF4-FFF2-40B4-BE49-F238E27FC236}">
                <a16:creationId xmlns:a16="http://schemas.microsoft.com/office/drawing/2014/main" id="{EFEFD604-1136-9A93-A912-C6B0F2A6FE43}"/>
              </a:ext>
            </a:extLst>
          </p:cNvPr>
          <p:cNvSpPr>
            <a:spLocks noGrp="1"/>
          </p:cNvSpPr>
          <p:nvPr>
            <p:ph idx="1"/>
          </p:nvPr>
        </p:nvSpPr>
        <p:spPr>
          <a:xfrm>
            <a:off x="757961" y="1129222"/>
            <a:ext cx="5340722" cy="4106060"/>
          </a:xfrm>
        </p:spPr>
        <p:txBody>
          <a:bodyPr vert="horz" lIns="91440" tIns="45720" rIns="91440" bIns="45720" rtlCol="0" anchor="t">
            <a:noAutofit/>
          </a:bodyPr>
          <a:lstStyle/>
          <a:p>
            <a:pPr marL="0" indent="0">
              <a:buNone/>
            </a:pPr>
            <a:endParaRPr lang="en-US" sz="1900"/>
          </a:p>
          <a:p>
            <a:r>
              <a:rPr lang="en-US" sz="1900"/>
              <a:t>BLE allows for data transfer similar to Bluetooth while using less power. This is accomplished by sending data in short bursts rather than constantly keeping communication open like normal Bluetooth.</a:t>
            </a:r>
          </a:p>
          <a:p>
            <a:r>
              <a:rPr lang="en-US" sz="1900"/>
              <a:t>BLE is ideal for this project's use case as a wearable heart monitor should be light and not have a large battery, so minimal power consumption is ideal.  Additionally, for heart monitoring constant communication is not necessary, the heart data can be sent in packets instead of constantly, so use of BLE is logical.</a:t>
            </a:r>
          </a:p>
        </p:txBody>
      </p:sp>
    </p:spTree>
    <p:extLst>
      <p:ext uri="{BB962C8B-B14F-4D97-AF65-F5344CB8AC3E}">
        <p14:creationId xmlns:p14="http://schemas.microsoft.com/office/powerpoint/2010/main" val="332473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48865-D928-09F4-B376-BCF304F1C7AD}"/>
              </a:ext>
            </a:extLst>
          </p:cNvPr>
          <p:cNvSpPr>
            <a:spLocks noGrp="1"/>
          </p:cNvSpPr>
          <p:nvPr>
            <p:ph type="title"/>
          </p:nvPr>
        </p:nvSpPr>
        <p:spPr>
          <a:xfrm>
            <a:off x="674914" y="206830"/>
            <a:ext cx="10363200" cy="1187570"/>
          </a:xfrm>
        </p:spPr>
        <p:txBody>
          <a:bodyPr>
            <a:normAutofit/>
          </a:bodyPr>
          <a:lstStyle/>
          <a:p>
            <a:r>
              <a:rPr lang="en-US" sz="4000">
                <a:latin typeface="Grandview Display"/>
              </a:rPr>
              <a:t>BLE Protocol</a:t>
            </a:r>
          </a:p>
        </p:txBody>
      </p:sp>
      <p:sp>
        <p:nvSpPr>
          <p:cNvPr id="3" name="Content Placeholder 2">
            <a:extLst>
              <a:ext uri="{FF2B5EF4-FFF2-40B4-BE49-F238E27FC236}">
                <a16:creationId xmlns:a16="http://schemas.microsoft.com/office/drawing/2014/main" id="{10D52E3D-2C08-FE45-B328-69B0EE8B23E9}"/>
              </a:ext>
            </a:extLst>
          </p:cNvPr>
          <p:cNvSpPr>
            <a:spLocks noGrp="1"/>
          </p:cNvSpPr>
          <p:nvPr>
            <p:ph idx="1"/>
          </p:nvPr>
        </p:nvSpPr>
        <p:spPr>
          <a:xfrm>
            <a:off x="423348" y="1284497"/>
            <a:ext cx="6031283" cy="4687452"/>
          </a:xfrm>
        </p:spPr>
        <p:txBody>
          <a:bodyPr vert="horz" lIns="91440" tIns="45720" rIns="91440" bIns="45720" rtlCol="0" anchor="t">
            <a:noAutofit/>
          </a:bodyPr>
          <a:lstStyle/>
          <a:p>
            <a:r>
              <a:rPr lang="en-US" sz="1900">
                <a:latin typeface="Grandview Display"/>
              </a:rPr>
              <a:t>Power density limit is 10 by the FCC 40 by the ICNIRP.</a:t>
            </a:r>
          </a:p>
          <a:p>
            <a:r>
              <a:rPr lang="en-US" sz="1900">
                <a:latin typeface="Grandview Display"/>
              </a:rPr>
              <a:t>Peak SAR limit is 1.6 by the FCC and 2 by the ICNIRP.</a:t>
            </a:r>
          </a:p>
          <a:p>
            <a:r>
              <a:rPr lang="en-US" sz="1900">
                <a:latin typeface="Grandview Display"/>
              </a:rPr>
              <a:t>RF identification (RFID) and near-field communication (NFC) inherently combine wireless communication and power delivery within a single system.</a:t>
            </a:r>
          </a:p>
          <a:p>
            <a:r>
              <a:rPr lang="en-US" sz="1900">
                <a:latin typeface="Grandview Display"/>
              </a:rPr>
              <a:t>BLE Protocols:</a:t>
            </a:r>
          </a:p>
          <a:p>
            <a:pPr marL="493395" lvl="1">
              <a:buFont typeface="Courier New,monospace" panose="020B0604020202020204" pitchFamily="34" charset="0"/>
              <a:buChar char="o"/>
            </a:pPr>
            <a:r>
              <a:rPr lang="en-US" sz="1900">
                <a:latin typeface="Grandview Display"/>
              </a:rPr>
              <a:t>Data Rate: Low-Moderate</a:t>
            </a:r>
          </a:p>
          <a:p>
            <a:pPr marL="493395" lvl="1">
              <a:buFont typeface="Courier New,monospace" panose="020B0604020202020204" pitchFamily="34" charset="0"/>
              <a:buChar char="o"/>
            </a:pPr>
            <a:r>
              <a:rPr lang="en-US" sz="1900">
                <a:latin typeface="Grandview Display"/>
              </a:rPr>
              <a:t>Communication Range: Moderate</a:t>
            </a:r>
          </a:p>
          <a:p>
            <a:pPr marL="493395" lvl="1">
              <a:buFont typeface="Courier New,monospace" panose="020B0604020202020204" pitchFamily="34" charset="0"/>
              <a:buChar char="o"/>
            </a:pPr>
            <a:r>
              <a:rPr lang="en-US" sz="1900">
                <a:latin typeface="Grandview Display"/>
              </a:rPr>
              <a:t>Power Consumption: Moderate</a:t>
            </a:r>
          </a:p>
          <a:p>
            <a:pPr marL="493395" lvl="1">
              <a:buFont typeface="Courier New,monospace" panose="020B0604020202020204" pitchFamily="34" charset="0"/>
              <a:buChar char="o"/>
            </a:pPr>
            <a:endParaRPr lang="en-US" sz="1900">
              <a:latin typeface="Grandview Display"/>
            </a:endParaRPr>
          </a:p>
        </p:txBody>
      </p:sp>
      <p:pic>
        <p:nvPicPr>
          <p:cNvPr id="7" name="Picture 6" descr="A bluetooth symbol on a black background&#10;&#10;AI-generated content may be incorrect.">
            <a:extLst>
              <a:ext uri="{FF2B5EF4-FFF2-40B4-BE49-F238E27FC236}">
                <a16:creationId xmlns:a16="http://schemas.microsoft.com/office/drawing/2014/main" id="{F9FF006D-9ED0-B122-2247-13B3AC2B5D36}"/>
              </a:ext>
            </a:extLst>
          </p:cNvPr>
          <p:cNvPicPr>
            <a:picLocks noChangeAspect="1"/>
          </p:cNvPicPr>
          <p:nvPr/>
        </p:nvPicPr>
        <p:blipFill>
          <a:blip r:embed="rId2"/>
          <a:stretch>
            <a:fillRect/>
          </a:stretch>
        </p:blipFill>
        <p:spPr>
          <a:xfrm>
            <a:off x="7465253" y="3632993"/>
            <a:ext cx="3036655" cy="3036655"/>
          </a:xfrm>
          <a:prstGeom prst="rect">
            <a:avLst/>
          </a:prstGeom>
        </p:spPr>
      </p:pic>
      <p:sp>
        <p:nvSpPr>
          <p:cNvPr id="5" name="TextBox 4">
            <a:extLst>
              <a:ext uri="{FF2B5EF4-FFF2-40B4-BE49-F238E27FC236}">
                <a16:creationId xmlns:a16="http://schemas.microsoft.com/office/drawing/2014/main" id="{97EF8312-FAEC-027C-89E9-CDA4A36CEA44}"/>
              </a:ext>
            </a:extLst>
          </p:cNvPr>
          <p:cNvSpPr txBox="1"/>
          <p:nvPr/>
        </p:nvSpPr>
        <p:spPr>
          <a:xfrm>
            <a:off x="6576164" y="923795"/>
            <a:ext cx="6096000" cy="27238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lvl="1" indent="-342900">
              <a:buFont typeface="Courier New"/>
              <a:buChar char="o"/>
            </a:pPr>
            <a:endParaRPr lang="en-US" sz="1900">
              <a:solidFill>
                <a:srgbClr val="000000"/>
              </a:solidFill>
              <a:latin typeface="Grandview Display"/>
              <a:ea typeface="Arial"/>
              <a:cs typeface="Arial"/>
            </a:endParaRPr>
          </a:p>
          <a:p>
            <a:pPr marL="342900" indent="-342900" algn="l" rtl="0">
              <a:buFont typeface="Arial"/>
              <a:buChar char="•"/>
            </a:pPr>
            <a:r>
              <a:rPr lang="en-US" sz="1900" b="0" i="0" u="none" strike="noStrike" baseline="0">
                <a:solidFill>
                  <a:srgbClr val="000000"/>
                </a:solidFill>
                <a:latin typeface="Grandview Display"/>
                <a:ea typeface="Arial"/>
                <a:cs typeface="Arial"/>
              </a:rPr>
              <a:t>BLE Data Transfer Technique</a:t>
            </a:r>
            <a:r>
              <a:rPr lang="en-US" sz="1900" b="0" i="0">
                <a:solidFill>
                  <a:srgbClr val="000000"/>
                </a:solidFill>
                <a:latin typeface="Grandview Display"/>
                <a:ea typeface="Arial"/>
                <a:cs typeface="Arial"/>
              </a:rPr>
              <a:t>​</a:t>
            </a:r>
            <a:r>
              <a:rPr lang="en-US" sz="1900">
                <a:solidFill>
                  <a:srgbClr val="000000"/>
                </a:solidFill>
                <a:latin typeface="Grandview Display"/>
                <a:ea typeface="Arial"/>
                <a:cs typeface="Arial"/>
              </a:rPr>
              <a:t>:</a:t>
            </a:r>
            <a:endParaRPr lang="en-US" sz="1900"/>
          </a:p>
          <a:p>
            <a:pPr marL="950595" lvl="2" indent="-493395" algn="l" rtl="0">
              <a:buFont typeface="Courier New"/>
              <a:buChar char="o"/>
            </a:pPr>
            <a:r>
              <a:rPr lang="en-US" sz="1900" b="0" i="0" u="none" strike="noStrike" baseline="0">
                <a:solidFill>
                  <a:srgbClr val="000000"/>
                </a:solidFill>
                <a:latin typeface="Grandview Display"/>
                <a:ea typeface="Arial"/>
                <a:cs typeface="Arial"/>
              </a:rPr>
              <a:t>Frequency Band: 2.4 GHz</a:t>
            </a:r>
            <a:r>
              <a:rPr lang="en-US" sz="1900" b="0" i="0">
                <a:solidFill>
                  <a:srgbClr val="000000"/>
                </a:solidFill>
                <a:latin typeface="Grandview Display"/>
                <a:ea typeface="Arial"/>
                <a:cs typeface="Arial"/>
              </a:rPr>
              <a:t>​</a:t>
            </a:r>
          </a:p>
          <a:p>
            <a:pPr marL="950595" lvl="2" indent="-493395" algn="l" rtl="0">
              <a:buFont typeface="Courier New"/>
              <a:buChar char="o"/>
            </a:pPr>
            <a:r>
              <a:rPr lang="en-US" sz="1900" b="0" i="0" u="none" strike="noStrike" baseline="0">
                <a:solidFill>
                  <a:srgbClr val="000000"/>
                </a:solidFill>
                <a:latin typeface="Grandview Display"/>
                <a:ea typeface="Arial"/>
                <a:cs typeface="Arial"/>
              </a:rPr>
              <a:t>40 2 MHz channels</a:t>
            </a:r>
            <a:r>
              <a:rPr lang="en-US" sz="1900" b="0" i="0">
                <a:solidFill>
                  <a:srgbClr val="000000"/>
                </a:solidFill>
                <a:latin typeface="Grandview Display"/>
                <a:ea typeface="Arial"/>
                <a:cs typeface="Arial"/>
              </a:rPr>
              <a:t>​</a:t>
            </a:r>
          </a:p>
          <a:p>
            <a:pPr marL="950595" lvl="2" indent="-493395" algn="l" rtl="0">
              <a:buFont typeface="Courier New"/>
              <a:buChar char="o"/>
            </a:pPr>
            <a:r>
              <a:rPr lang="en-US" sz="1900" b="0" i="0" u="none" strike="noStrike" baseline="0">
                <a:solidFill>
                  <a:srgbClr val="000000"/>
                </a:solidFill>
                <a:latin typeface="Grandview Display"/>
                <a:ea typeface="Arial"/>
                <a:cs typeface="Arial"/>
              </a:rPr>
              <a:t>Data Rate: &lt;2 Mbps</a:t>
            </a:r>
            <a:r>
              <a:rPr lang="en-US" sz="1900" b="0" i="0">
                <a:solidFill>
                  <a:srgbClr val="000000"/>
                </a:solidFill>
                <a:latin typeface="Grandview Display"/>
                <a:ea typeface="Arial"/>
                <a:cs typeface="Arial"/>
              </a:rPr>
              <a:t>​</a:t>
            </a:r>
          </a:p>
          <a:p>
            <a:pPr marL="950595" lvl="2" indent="-493395" algn="l" rtl="0">
              <a:buFont typeface="Courier New"/>
              <a:buChar char="o"/>
            </a:pPr>
            <a:r>
              <a:rPr lang="en-US" sz="1900" b="0" i="0" u="none" strike="noStrike" baseline="0">
                <a:solidFill>
                  <a:srgbClr val="000000"/>
                </a:solidFill>
                <a:latin typeface="Grandview Display"/>
                <a:ea typeface="Arial"/>
                <a:cs typeface="Arial"/>
              </a:rPr>
              <a:t>Communication Range: &lt;400 m</a:t>
            </a:r>
            <a:r>
              <a:rPr lang="en-US" sz="1900" b="0" i="0">
                <a:solidFill>
                  <a:srgbClr val="000000"/>
                </a:solidFill>
                <a:latin typeface="Grandview Display"/>
                <a:ea typeface="Arial"/>
                <a:cs typeface="Arial"/>
              </a:rPr>
              <a:t>​</a:t>
            </a:r>
          </a:p>
          <a:p>
            <a:pPr marL="950595" lvl="2" indent="-493395" algn="l" rtl="0">
              <a:buFont typeface="Courier New"/>
              <a:buChar char="o"/>
            </a:pPr>
            <a:r>
              <a:rPr lang="en-US" sz="1900" b="0" i="0" u="none" strike="noStrike" baseline="0">
                <a:solidFill>
                  <a:srgbClr val="000000"/>
                </a:solidFill>
                <a:latin typeface="Grandview Display"/>
                <a:ea typeface="Arial"/>
                <a:cs typeface="Arial"/>
              </a:rPr>
              <a:t>Power Consumption: &lt;20 mA</a:t>
            </a:r>
            <a:r>
              <a:rPr lang="en-US" sz="1900" b="0" i="0">
                <a:solidFill>
                  <a:srgbClr val="000000"/>
                </a:solidFill>
                <a:latin typeface="Grandview Display"/>
                <a:ea typeface="Arial"/>
                <a:cs typeface="Arial"/>
              </a:rPr>
              <a:t>​</a:t>
            </a:r>
          </a:p>
          <a:p>
            <a:pPr marL="950595" lvl="2" indent="-493395" algn="l" rtl="0">
              <a:buFont typeface="Courier New"/>
              <a:buChar char="o"/>
            </a:pPr>
            <a:r>
              <a:rPr lang="en-US" sz="1900" b="0" i="0" u="none" strike="noStrike" baseline="0">
                <a:solidFill>
                  <a:srgbClr val="000000"/>
                </a:solidFill>
                <a:latin typeface="Grandview Display"/>
                <a:ea typeface="Arial"/>
                <a:cs typeface="Arial"/>
              </a:rPr>
              <a:t>Technical Standard: IEEE 802.15.1</a:t>
            </a:r>
            <a:r>
              <a:rPr lang="en-US" sz="1900" b="0" i="0">
                <a:solidFill>
                  <a:srgbClr val="000000"/>
                </a:solidFill>
                <a:latin typeface="Grandview Display"/>
                <a:ea typeface="Arial"/>
                <a:cs typeface="Arial"/>
              </a:rPr>
              <a:t>​</a:t>
            </a:r>
          </a:p>
          <a:p>
            <a:pPr marL="342900" indent="-342900" algn="ctr">
              <a:buFont typeface="Arial"/>
              <a:buChar char="•"/>
            </a:pPr>
            <a:endParaRPr lang="en-US" sz="1900"/>
          </a:p>
        </p:txBody>
      </p:sp>
    </p:spTree>
    <p:extLst>
      <p:ext uri="{BB962C8B-B14F-4D97-AF65-F5344CB8AC3E}">
        <p14:creationId xmlns:p14="http://schemas.microsoft.com/office/powerpoint/2010/main" val="2938249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F96F1-D5B5-8B7C-DCFE-3601A23A3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E74CA-56F9-8BF2-ACC1-BB0B1595F7CF}"/>
              </a:ext>
            </a:extLst>
          </p:cNvPr>
          <p:cNvSpPr>
            <a:spLocks noGrp="1"/>
          </p:cNvSpPr>
          <p:nvPr>
            <p:ph type="title"/>
          </p:nvPr>
        </p:nvSpPr>
        <p:spPr>
          <a:xfrm>
            <a:off x="914400" y="181628"/>
            <a:ext cx="10363200" cy="1187570"/>
          </a:xfrm>
        </p:spPr>
        <p:txBody>
          <a:bodyPr/>
          <a:lstStyle/>
          <a:p>
            <a:r>
              <a:rPr lang="en-US"/>
              <a:t>Bluetooth Low Energy (BLE)</a:t>
            </a:r>
          </a:p>
        </p:txBody>
      </p:sp>
      <p:sp>
        <p:nvSpPr>
          <p:cNvPr id="3" name="Content Placeholder 2">
            <a:extLst>
              <a:ext uri="{FF2B5EF4-FFF2-40B4-BE49-F238E27FC236}">
                <a16:creationId xmlns:a16="http://schemas.microsoft.com/office/drawing/2014/main" id="{13BE66D2-A3A9-9219-0F15-C5E4AFEEF080}"/>
              </a:ext>
            </a:extLst>
          </p:cNvPr>
          <p:cNvSpPr>
            <a:spLocks noGrp="1"/>
          </p:cNvSpPr>
          <p:nvPr>
            <p:ph idx="1"/>
          </p:nvPr>
        </p:nvSpPr>
        <p:spPr>
          <a:xfrm>
            <a:off x="914399" y="1369198"/>
            <a:ext cx="8008816" cy="4506118"/>
          </a:xfrm>
        </p:spPr>
        <p:txBody>
          <a:bodyPr vert="horz" lIns="91440" tIns="45720" rIns="91440" bIns="45720" rtlCol="0" anchor="t">
            <a:noAutofit/>
          </a:bodyPr>
          <a:lstStyle/>
          <a:p>
            <a:r>
              <a:rPr lang="en-US"/>
              <a:t>BLE radio devices conserve power by turning on when necessary.</a:t>
            </a:r>
          </a:p>
          <a:p>
            <a:r>
              <a:rPr lang="en-US"/>
              <a:t>With only three channels available to establish a connection between devices, BLE consumes less energy and connects faster.</a:t>
            </a:r>
          </a:p>
          <a:p>
            <a:r>
              <a:rPr lang="en-US"/>
              <a:t>Primary advertising channels are used to find devices/send signals.</a:t>
            </a:r>
          </a:p>
          <a:p>
            <a:r>
              <a:rPr lang="en-US"/>
              <a:t>BLE devices have a longer battery lifespan due to the use of periodic short bursts to transmit data and battery recovery during idle periods.</a:t>
            </a:r>
          </a:p>
          <a:p>
            <a:r>
              <a:rPr lang="en-US"/>
              <a:t>BLE Protocol uses an asymmetric design:</a:t>
            </a:r>
          </a:p>
          <a:p>
            <a:pPr marL="493395" lvl="1">
              <a:buFont typeface="Courier New" panose="020B0604020202020204" pitchFamily="34" charset="0"/>
              <a:buChar char="o"/>
            </a:pPr>
            <a:r>
              <a:rPr lang="en-US" sz="2000"/>
              <a:t>One central device that uses more power and has more processing capability.</a:t>
            </a:r>
          </a:p>
          <a:p>
            <a:pPr marL="493395" lvl="1">
              <a:buFont typeface="Courier New" panose="020B0604020202020204" pitchFamily="34" charset="0"/>
              <a:buChar char="o"/>
            </a:pPr>
            <a:r>
              <a:rPr lang="en-US" sz="2000"/>
              <a:t>Peripheral that has less capabilities and limited energy resources.</a:t>
            </a:r>
          </a:p>
        </p:txBody>
      </p:sp>
      <p:pic>
        <p:nvPicPr>
          <p:cNvPr id="8" name="Picture 7" descr="BLE (Bluetooth Low Energy) – What is it and how to use it in IoT? – Novidá">
            <a:extLst>
              <a:ext uri="{FF2B5EF4-FFF2-40B4-BE49-F238E27FC236}">
                <a16:creationId xmlns:a16="http://schemas.microsoft.com/office/drawing/2014/main" id="{338A33C4-6914-84B0-20ED-6EB2FE736E67}"/>
              </a:ext>
            </a:extLst>
          </p:cNvPr>
          <p:cNvPicPr>
            <a:picLocks noChangeAspect="1"/>
          </p:cNvPicPr>
          <p:nvPr/>
        </p:nvPicPr>
        <p:blipFill>
          <a:blip r:embed="rId2"/>
          <a:stretch>
            <a:fillRect/>
          </a:stretch>
        </p:blipFill>
        <p:spPr>
          <a:xfrm>
            <a:off x="7430479" y="3427590"/>
            <a:ext cx="4760544" cy="2679589"/>
          </a:xfrm>
          <a:prstGeom prst="rect">
            <a:avLst/>
          </a:prstGeom>
        </p:spPr>
      </p:pic>
    </p:spTree>
    <p:extLst>
      <p:ext uri="{BB962C8B-B14F-4D97-AF65-F5344CB8AC3E}">
        <p14:creationId xmlns:p14="http://schemas.microsoft.com/office/powerpoint/2010/main" val="1761249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C34B3-0C44-8722-234D-D970F84F9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F33E9-276B-3695-BDA5-594477807E71}"/>
              </a:ext>
            </a:extLst>
          </p:cNvPr>
          <p:cNvSpPr>
            <a:spLocks noGrp="1"/>
          </p:cNvSpPr>
          <p:nvPr>
            <p:ph type="title"/>
          </p:nvPr>
        </p:nvSpPr>
        <p:spPr>
          <a:xfrm>
            <a:off x="914400" y="1371601"/>
            <a:ext cx="10363200" cy="1187570"/>
          </a:xfrm>
        </p:spPr>
        <p:txBody>
          <a:bodyPr anchor="t">
            <a:normAutofit/>
          </a:bodyPr>
          <a:lstStyle/>
          <a:p>
            <a:r>
              <a:rPr lang="en-US"/>
              <a:t>BLE Protocol Stack</a:t>
            </a:r>
          </a:p>
        </p:txBody>
      </p:sp>
      <p:sp>
        <p:nvSpPr>
          <p:cNvPr id="21" name="Date Placeholder 3">
            <a:extLst>
              <a:ext uri="{FF2B5EF4-FFF2-40B4-BE49-F238E27FC236}">
                <a16:creationId xmlns:a16="http://schemas.microsoft.com/office/drawing/2014/main" id="{8517F80E-C18C-AF9C-E677-F2C9998569A5}"/>
              </a:ext>
            </a:extLst>
          </p:cNvPr>
          <p:cNvSpPr>
            <a:spLocks noGrp="1"/>
          </p:cNvSpPr>
          <p:nvPr>
            <p:ph type="dt" sz="half" idx="10"/>
          </p:nvPr>
        </p:nvSpPr>
        <p:spPr>
          <a:xfrm>
            <a:off x="912628" y="6356350"/>
            <a:ext cx="2743200" cy="365125"/>
          </a:xfrm>
        </p:spPr>
        <p:txBody>
          <a:bodyPr anchor="ctr">
            <a:normAutofit/>
          </a:bodyPr>
          <a:lstStyle/>
          <a:p>
            <a:pPr>
              <a:spcAft>
                <a:spcPts val="600"/>
              </a:spcAft>
            </a:pPr>
            <a:fld id="{81DBDD93-B70A-4548-8AB7-E11D17F364F6}" type="datetime1">
              <a:rPr lang="en-US"/>
              <a:pPr>
                <a:spcAft>
                  <a:spcPts val="600"/>
                </a:spcAft>
              </a:pPr>
              <a:t>9/21/2026</a:t>
            </a:fld>
            <a:endParaRPr lang="en-US"/>
          </a:p>
        </p:txBody>
      </p:sp>
      <p:sp>
        <p:nvSpPr>
          <p:cNvPr id="22" name="Footer Placeholder 4">
            <a:extLst>
              <a:ext uri="{FF2B5EF4-FFF2-40B4-BE49-F238E27FC236}">
                <a16:creationId xmlns:a16="http://schemas.microsoft.com/office/drawing/2014/main" id="{DCA1CF9C-5223-6A1A-7779-22290D345A09}"/>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23" name="Slide Number Placeholder 5">
            <a:extLst>
              <a:ext uri="{FF2B5EF4-FFF2-40B4-BE49-F238E27FC236}">
                <a16:creationId xmlns:a16="http://schemas.microsoft.com/office/drawing/2014/main" id="{1E542FC6-2326-D7FC-0E6A-4438C2A32AA1}"/>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6</a:t>
            </a:fld>
            <a:endParaRPr lang="en-US"/>
          </a:p>
        </p:txBody>
      </p:sp>
      <p:graphicFrame>
        <p:nvGraphicFramePr>
          <p:cNvPr id="24" name="Content Placeholder 2">
            <a:extLst>
              <a:ext uri="{FF2B5EF4-FFF2-40B4-BE49-F238E27FC236}">
                <a16:creationId xmlns:a16="http://schemas.microsoft.com/office/drawing/2014/main" id="{DD8B4070-6376-0AA3-DD55-4441221AF0AB}"/>
              </a:ext>
            </a:extLst>
          </p:cNvPr>
          <p:cNvGraphicFramePr>
            <a:graphicFrameLocks noGrp="1"/>
          </p:cNvGraphicFramePr>
          <p:nvPr>
            <p:ph idx="1"/>
          </p:nvPr>
        </p:nvGraphicFramePr>
        <p:xfrm>
          <a:off x="914399" y="2559171"/>
          <a:ext cx="10363200" cy="3382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9849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5D58B-2E1E-606E-7866-40753BE5C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F101B-E485-C427-1EDE-60E5CEC126FF}"/>
              </a:ext>
            </a:extLst>
          </p:cNvPr>
          <p:cNvSpPr>
            <a:spLocks noGrp="1"/>
          </p:cNvSpPr>
          <p:nvPr>
            <p:ph type="title"/>
          </p:nvPr>
        </p:nvSpPr>
        <p:spPr>
          <a:xfrm>
            <a:off x="914400" y="1371601"/>
            <a:ext cx="10363200" cy="1187570"/>
          </a:xfrm>
        </p:spPr>
        <p:txBody>
          <a:bodyPr anchor="t">
            <a:normAutofit/>
          </a:bodyPr>
          <a:lstStyle/>
          <a:p>
            <a:r>
              <a:rPr lang="en-US"/>
              <a:t>BLE Protocol Stack</a:t>
            </a:r>
          </a:p>
        </p:txBody>
      </p:sp>
      <p:sp>
        <p:nvSpPr>
          <p:cNvPr id="27" name="Date Placeholder 3">
            <a:extLst>
              <a:ext uri="{FF2B5EF4-FFF2-40B4-BE49-F238E27FC236}">
                <a16:creationId xmlns:a16="http://schemas.microsoft.com/office/drawing/2014/main" id="{2C3CA463-95C4-E25C-0CA3-D8B21F794735}"/>
              </a:ext>
            </a:extLst>
          </p:cNvPr>
          <p:cNvSpPr>
            <a:spLocks noGrp="1"/>
          </p:cNvSpPr>
          <p:nvPr>
            <p:ph type="dt" sz="half" idx="10"/>
          </p:nvPr>
        </p:nvSpPr>
        <p:spPr>
          <a:xfrm>
            <a:off x="912628" y="6356350"/>
            <a:ext cx="2743200" cy="365125"/>
          </a:xfrm>
        </p:spPr>
        <p:txBody>
          <a:bodyPr anchor="ctr">
            <a:normAutofit/>
          </a:bodyPr>
          <a:lstStyle/>
          <a:p>
            <a:pPr>
              <a:spcAft>
                <a:spcPts val="600"/>
              </a:spcAft>
            </a:pPr>
            <a:fld id="{880A2C7D-C49C-4E7E-9974-EA13189742E6}" type="datetime1">
              <a:rPr lang="en-US"/>
              <a:pPr>
                <a:spcAft>
                  <a:spcPts val="600"/>
                </a:spcAft>
              </a:pPr>
              <a:t>9/21/2026</a:t>
            </a:fld>
            <a:endParaRPr lang="en-US"/>
          </a:p>
        </p:txBody>
      </p:sp>
      <p:sp>
        <p:nvSpPr>
          <p:cNvPr id="28" name="Footer Placeholder 4">
            <a:extLst>
              <a:ext uri="{FF2B5EF4-FFF2-40B4-BE49-F238E27FC236}">
                <a16:creationId xmlns:a16="http://schemas.microsoft.com/office/drawing/2014/main" id="{8BDE40EC-32B3-7D64-3F66-6C9162B83CEF}"/>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29" name="Slide Number Placeholder 5">
            <a:extLst>
              <a:ext uri="{FF2B5EF4-FFF2-40B4-BE49-F238E27FC236}">
                <a16:creationId xmlns:a16="http://schemas.microsoft.com/office/drawing/2014/main" id="{B606E2BA-293E-7F98-E132-81BA459FFA78}"/>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7</a:t>
            </a:fld>
            <a:endParaRPr lang="en-US"/>
          </a:p>
        </p:txBody>
      </p:sp>
      <p:graphicFrame>
        <p:nvGraphicFramePr>
          <p:cNvPr id="30" name="Content Placeholder 2">
            <a:extLst>
              <a:ext uri="{FF2B5EF4-FFF2-40B4-BE49-F238E27FC236}">
                <a16:creationId xmlns:a16="http://schemas.microsoft.com/office/drawing/2014/main" id="{3D9AF181-7F46-F6AE-2485-918BE68F3C25}"/>
              </a:ext>
            </a:extLst>
          </p:cNvPr>
          <p:cNvGraphicFramePr>
            <a:graphicFrameLocks noGrp="1"/>
          </p:cNvGraphicFramePr>
          <p:nvPr>
            <p:ph idx="1"/>
          </p:nvPr>
        </p:nvGraphicFramePr>
        <p:xfrm>
          <a:off x="914399" y="2559171"/>
          <a:ext cx="10363200" cy="3382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7176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CC42-D974-7DD2-04D5-7664DE632B33}"/>
              </a:ext>
            </a:extLst>
          </p:cNvPr>
          <p:cNvSpPr>
            <a:spLocks noGrp="1"/>
          </p:cNvSpPr>
          <p:nvPr>
            <p:ph type="title"/>
          </p:nvPr>
        </p:nvSpPr>
        <p:spPr>
          <a:xfrm>
            <a:off x="768263" y="223381"/>
            <a:ext cx="10655473" cy="1187570"/>
          </a:xfrm>
        </p:spPr>
        <p:txBody>
          <a:bodyPr/>
          <a:lstStyle/>
          <a:p>
            <a:r>
              <a:rPr lang="en-US">
                <a:ea typeface="+mj-lt"/>
                <a:cs typeface="+mj-lt"/>
              </a:rPr>
              <a:t>Design of Wireless-Enabled Wearable Devices</a:t>
            </a:r>
          </a:p>
        </p:txBody>
      </p:sp>
      <p:graphicFrame>
        <p:nvGraphicFramePr>
          <p:cNvPr id="8" name="Content Placeholder 2">
            <a:extLst>
              <a:ext uri="{FF2B5EF4-FFF2-40B4-BE49-F238E27FC236}">
                <a16:creationId xmlns:a16="http://schemas.microsoft.com/office/drawing/2014/main" id="{9CAC0063-A89C-C077-6540-231E798610F3}"/>
              </a:ext>
            </a:extLst>
          </p:cNvPr>
          <p:cNvGraphicFramePr>
            <a:graphicFrameLocks noGrp="1"/>
          </p:cNvGraphicFramePr>
          <p:nvPr>
            <p:ph idx="1"/>
            <p:extLst>
              <p:ext uri="{D42A27DB-BD31-4B8C-83A1-F6EECF244321}">
                <p14:modId xmlns:p14="http://schemas.microsoft.com/office/powerpoint/2010/main" val="1228176743"/>
              </p:ext>
            </p:extLst>
          </p:nvPr>
        </p:nvGraphicFramePr>
        <p:xfrm>
          <a:off x="890392" y="1211001"/>
          <a:ext cx="10700567" cy="51141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618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B1050-FCC0-35FD-08F0-95412753D773}"/>
              </a:ext>
            </a:extLst>
          </p:cNvPr>
          <p:cNvSpPr>
            <a:spLocks noGrp="1"/>
          </p:cNvSpPr>
          <p:nvPr>
            <p:ph type="title"/>
          </p:nvPr>
        </p:nvSpPr>
        <p:spPr>
          <a:xfrm>
            <a:off x="838200" y="-271615"/>
            <a:ext cx="10515600" cy="1828444"/>
          </a:xfrm>
        </p:spPr>
        <p:txBody>
          <a:bodyPr vert="horz" lIns="91440" tIns="45720" rIns="91440" bIns="45720" rtlCol="0" anchor="ctr">
            <a:normAutofit/>
          </a:bodyPr>
          <a:lstStyle/>
          <a:p>
            <a:r>
              <a:rPr lang="en-US" kern="1200">
                <a:latin typeface="+mj-lt"/>
                <a:ea typeface="+mj-ea"/>
                <a:cs typeface="+mj-cs"/>
              </a:rPr>
              <a:t>Monopole Antennas</a:t>
            </a:r>
            <a:endParaRPr lang="en-US" kern="1200">
              <a:latin typeface="+mj-lt"/>
            </a:endParaRPr>
          </a:p>
        </p:txBody>
      </p:sp>
      <p:sp>
        <p:nvSpPr>
          <p:cNvPr id="3" name="Content Placeholder 2">
            <a:extLst>
              <a:ext uri="{FF2B5EF4-FFF2-40B4-BE49-F238E27FC236}">
                <a16:creationId xmlns:a16="http://schemas.microsoft.com/office/drawing/2014/main" id="{FA65EFFF-54CB-650B-EC80-E52447D7B93F}"/>
              </a:ext>
            </a:extLst>
          </p:cNvPr>
          <p:cNvSpPr>
            <a:spLocks noGrp="1"/>
          </p:cNvSpPr>
          <p:nvPr>
            <p:ph idx="1"/>
          </p:nvPr>
        </p:nvSpPr>
        <p:spPr>
          <a:xfrm>
            <a:off x="838200" y="2398626"/>
            <a:ext cx="5158427" cy="3730460"/>
          </a:xfrm>
        </p:spPr>
        <p:txBody>
          <a:bodyPr vert="horz" lIns="91440" tIns="45720" rIns="91440" bIns="45720" rtlCol="0">
            <a:normAutofit/>
          </a:bodyPr>
          <a:lstStyle/>
          <a:p>
            <a:endParaRPr lang="en-US" sz="2000"/>
          </a:p>
          <a:p>
            <a:endParaRPr lang="en-US" sz="2000"/>
          </a:p>
        </p:txBody>
      </p:sp>
      <p:sp>
        <p:nvSpPr>
          <p:cNvPr id="5" name="TextBox 4">
            <a:extLst>
              <a:ext uri="{FF2B5EF4-FFF2-40B4-BE49-F238E27FC236}">
                <a16:creationId xmlns:a16="http://schemas.microsoft.com/office/drawing/2014/main" id="{5B60D915-F322-7741-435B-FFEDA1109F3E}"/>
              </a:ext>
            </a:extLst>
          </p:cNvPr>
          <p:cNvSpPr txBox="1"/>
          <p:nvPr/>
        </p:nvSpPr>
        <p:spPr>
          <a:xfrm>
            <a:off x="6189154" y="1156462"/>
            <a:ext cx="5164645" cy="49621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342900" indent="-342900">
              <a:lnSpc>
                <a:spcPct val="90000"/>
              </a:lnSpc>
              <a:spcAft>
                <a:spcPts val="600"/>
              </a:spcAft>
              <a:buFont typeface="Arial"/>
              <a:buChar char="•"/>
            </a:pPr>
            <a:r>
              <a:rPr lang="en-US" sz="1900"/>
              <a:t>Monopoles can be seen as half of a dipole that sits above the ground plane.</a:t>
            </a:r>
          </a:p>
          <a:p>
            <a:pPr marL="342900" indent="-342900">
              <a:lnSpc>
                <a:spcPct val="90000"/>
              </a:lnSpc>
              <a:spcAft>
                <a:spcPts val="600"/>
              </a:spcAft>
              <a:buFont typeface="Arial"/>
              <a:buChar char="•"/>
            </a:pPr>
            <a:endParaRPr lang="en-US" sz="1900"/>
          </a:p>
          <a:p>
            <a:pPr marL="342900" indent="-342900">
              <a:lnSpc>
                <a:spcPct val="90000"/>
              </a:lnSpc>
              <a:spcAft>
                <a:spcPts val="600"/>
              </a:spcAft>
              <a:buFont typeface="Arial"/>
              <a:buChar char="•"/>
            </a:pPr>
            <a:r>
              <a:rPr lang="en-US" sz="1900"/>
              <a:t>The current distribution is like that of a dipole, while the terminal voltage is about half.</a:t>
            </a:r>
          </a:p>
          <a:p>
            <a:pPr marL="342900" indent="-342900">
              <a:lnSpc>
                <a:spcPct val="90000"/>
              </a:lnSpc>
              <a:spcAft>
                <a:spcPts val="600"/>
              </a:spcAft>
              <a:buFont typeface="Arial"/>
              <a:buChar char="•"/>
            </a:pPr>
            <a:endParaRPr lang="en-US" sz="1900"/>
          </a:p>
          <a:p>
            <a:pPr marL="342900" indent="-342900">
              <a:lnSpc>
                <a:spcPct val="90000"/>
              </a:lnSpc>
              <a:spcAft>
                <a:spcPts val="600"/>
              </a:spcAft>
              <a:buFont typeface="Arial"/>
              <a:buChar char="•"/>
            </a:pPr>
            <a:r>
              <a:rPr lang="en-US" sz="1900"/>
              <a:t>The directivity of the monopole is approximately twice that of a dipole.</a:t>
            </a:r>
          </a:p>
          <a:p>
            <a:pPr marL="342900" indent="-342900">
              <a:lnSpc>
                <a:spcPct val="90000"/>
              </a:lnSpc>
              <a:spcAft>
                <a:spcPts val="600"/>
              </a:spcAft>
              <a:buFont typeface="Arial"/>
              <a:buChar char="•"/>
            </a:pPr>
            <a:endParaRPr lang="en-US" sz="1900"/>
          </a:p>
          <a:p>
            <a:pPr marL="342900" indent="-342900">
              <a:buFont typeface="Arial"/>
              <a:buChar char="•"/>
            </a:pPr>
            <a:r>
              <a:rPr lang="en-US" sz="1900">
                <a:ea typeface="+mn-lt"/>
                <a:cs typeface="+mn-lt"/>
              </a:rPr>
              <a:t>While monopoles require a λ/4 electrical length, their physical size is often too big for compact devices</a:t>
            </a:r>
            <a:endParaRPr lang="en-US" sz="1900"/>
          </a:p>
          <a:p>
            <a:pPr marL="342900" indent="-342900">
              <a:lnSpc>
                <a:spcPct val="90000"/>
              </a:lnSpc>
              <a:spcAft>
                <a:spcPts val="600"/>
              </a:spcAft>
              <a:buFont typeface="Arial"/>
              <a:buChar char="•"/>
            </a:pPr>
            <a:endParaRPr lang="en-US" sz="1900"/>
          </a:p>
          <a:p>
            <a:pPr marL="342900" indent="-342900">
              <a:lnSpc>
                <a:spcPct val="90000"/>
              </a:lnSpc>
              <a:spcAft>
                <a:spcPts val="600"/>
              </a:spcAft>
              <a:buFont typeface="Arial"/>
              <a:buChar char="•"/>
            </a:pPr>
            <a:r>
              <a:rPr lang="en-US" sz="1900"/>
              <a:t>PIFAs are a type of monopole that can be implemented for smaller wireless systems and wearables.</a:t>
            </a:r>
          </a:p>
          <a:p>
            <a:pPr marL="342900" indent="-342900">
              <a:lnSpc>
                <a:spcPct val="90000"/>
              </a:lnSpc>
              <a:spcAft>
                <a:spcPts val="600"/>
              </a:spcAft>
              <a:buFont typeface="Arial"/>
              <a:buChar char="•"/>
            </a:pPr>
            <a:endParaRPr lang="en-US" sz="1900"/>
          </a:p>
          <a:p>
            <a:pPr marL="342900" indent="-342900">
              <a:lnSpc>
                <a:spcPct val="90000"/>
              </a:lnSpc>
              <a:spcAft>
                <a:spcPts val="600"/>
              </a:spcAft>
              <a:buFont typeface="Arial"/>
              <a:buChar char="•"/>
            </a:pPr>
            <a:endParaRPr lang="en-US" sz="1900"/>
          </a:p>
        </p:txBody>
      </p:sp>
      <p:pic>
        <p:nvPicPr>
          <p:cNvPr id="8" name="Picture 7">
            <a:extLst>
              <a:ext uri="{FF2B5EF4-FFF2-40B4-BE49-F238E27FC236}">
                <a16:creationId xmlns:a16="http://schemas.microsoft.com/office/drawing/2014/main" id="{79F80119-2280-0C9A-B960-BF7280D86CD7}"/>
              </a:ext>
            </a:extLst>
          </p:cNvPr>
          <p:cNvPicPr>
            <a:picLocks noChangeAspect="1"/>
          </p:cNvPicPr>
          <p:nvPr/>
        </p:nvPicPr>
        <p:blipFill>
          <a:blip r:embed="rId2"/>
          <a:stretch>
            <a:fillRect/>
          </a:stretch>
        </p:blipFill>
        <p:spPr>
          <a:xfrm>
            <a:off x="645349" y="2509114"/>
            <a:ext cx="5046440" cy="2370277"/>
          </a:xfrm>
          <a:prstGeom prst="rect">
            <a:avLst/>
          </a:prstGeom>
        </p:spPr>
      </p:pic>
    </p:spTree>
    <p:extLst>
      <p:ext uri="{BB962C8B-B14F-4D97-AF65-F5344CB8AC3E}">
        <p14:creationId xmlns:p14="http://schemas.microsoft.com/office/powerpoint/2010/main" val="2836625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8EBA8-58ED-0FCB-D35C-8B568A538E4C}"/>
              </a:ext>
            </a:extLst>
          </p:cNvPr>
          <p:cNvSpPr>
            <a:spLocks noGrp="1"/>
          </p:cNvSpPr>
          <p:nvPr>
            <p:ph type="title"/>
          </p:nvPr>
        </p:nvSpPr>
        <p:spPr>
          <a:xfrm>
            <a:off x="411480" y="-201"/>
            <a:ext cx="9161290" cy="1087819"/>
          </a:xfrm>
        </p:spPr>
        <p:txBody>
          <a:bodyPr anchor="b">
            <a:noAutofit/>
          </a:bodyPr>
          <a:lstStyle/>
          <a:p>
            <a:r>
              <a:rPr lang="en-US"/>
              <a:t>PIFA (Planar Inverted F Antenna) Basics</a:t>
            </a:r>
          </a:p>
        </p:txBody>
      </p:sp>
      <p:sp>
        <p:nvSpPr>
          <p:cNvPr id="3" name="Content Placeholder 2">
            <a:extLst>
              <a:ext uri="{FF2B5EF4-FFF2-40B4-BE49-F238E27FC236}">
                <a16:creationId xmlns:a16="http://schemas.microsoft.com/office/drawing/2014/main" id="{2A30CBD9-12F3-1271-F14D-AA2767CC56E8}"/>
              </a:ext>
            </a:extLst>
          </p:cNvPr>
          <p:cNvSpPr>
            <a:spLocks noGrp="1"/>
          </p:cNvSpPr>
          <p:nvPr>
            <p:ph idx="1"/>
          </p:nvPr>
        </p:nvSpPr>
        <p:spPr>
          <a:xfrm>
            <a:off x="411480" y="2684095"/>
            <a:ext cx="4443154" cy="3492868"/>
          </a:xfrm>
        </p:spPr>
        <p:txBody>
          <a:bodyPr vert="horz" lIns="91440" tIns="45720" rIns="91440" bIns="45720" rtlCol="0">
            <a:normAutofit/>
          </a:bodyPr>
          <a:lstStyle/>
          <a:p>
            <a:endParaRPr lang="en-US" sz="1800">
              <a:latin typeface="Arial"/>
              <a:cs typeface="Arial"/>
            </a:endParaRPr>
          </a:p>
          <a:p>
            <a:endParaRPr lang="en-US" sz="1800">
              <a:latin typeface="Arial"/>
              <a:cs typeface="Arial"/>
            </a:endParaRPr>
          </a:p>
          <a:p>
            <a:endParaRPr lang="en-US" sz="1800">
              <a:latin typeface="Arial"/>
              <a:cs typeface="Arial"/>
            </a:endParaRPr>
          </a:p>
          <a:p>
            <a:endParaRPr lang="en-US" sz="1800">
              <a:latin typeface="Arial"/>
              <a:cs typeface="Arial"/>
            </a:endParaRPr>
          </a:p>
        </p:txBody>
      </p:sp>
      <p:pic>
        <p:nvPicPr>
          <p:cNvPr id="5" name="Picture 4" descr="Diagram of a diagram of a flowchart&#10;&#10;AI-generated content may be incorrect.">
            <a:extLst>
              <a:ext uri="{FF2B5EF4-FFF2-40B4-BE49-F238E27FC236}">
                <a16:creationId xmlns:a16="http://schemas.microsoft.com/office/drawing/2014/main" id="{B4385E0D-892D-D27E-AC09-88463DB120E9}"/>
              </a:ext>
            </a:extLst>
          </p:cNvPr>
          <p:cNvPicPr>
            <a:picLocks noChangeAspect="1"/>
          </p:cNvPicPr>
          <p:nvPr/>
        </p:nvPicPr>
        <p:blipFill>
          <a:blip r:embed="rId2"/>
          <a:srcRect l="623" t="3140" r="6359" b="1208"/>
          <a:stretch>
            <a:fillRect/>
          </a:stretch>
        </p:blipFill>
        <p:spPr>
          <a:xfrm>
            <a:off x="3480050" y="1488847"/>
            <a:ext cx="8717066" cy="4668159"/>
          </a:xfrm>
          <a:prstGeom prst="rect">
            <a:avLst/>
          </a:prstGeom>
        </p:spPr>
      </p:pic>
      <p:sp>
        <p:nvSpPr>
          <p:cNvPr id="8" name="TextBox 7">
            <a:extLst>
              <a:ext uri="{FF2B5EF4-FFF2-40B4-BE49-F238E27FC236}">
                <a16:creationId xmlns:a16="http://schemas.microsoft.com/office/drawing/2014/main" id="{21AF8FBF-2EB6-1EA7-4EE8-486938A92C81}"/>
              </a:ext>
            </a:extLst>
          </p:cNvPr>
          <p:cNvSpPr txBox="1"/>
          <p:nvPr/>
        </p:nvSpPr>
        <p:spPr>
          <a:xfrm>
            <a:off x="413173" y="1484889"/>
            <a:ext cx="3280947"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t>Compact planar monopole antenna.</a:t>
            </a:r>
          </a:p>
          <a:p>
            <a:pPr marL="285750" indent="-285750">
              <a:buFont typeface="Arial"/>
              <a:buChar char="•"/>
            </a:pPr>
            <a:endParaRPr lang="en-US" sz="2000"/>
          </a:p>
          <a:p>
            <a:pPr marL="285750" indent="-285750">
              <a:buFont typeface="Arial"/>
              <a:buChar char="•"/>
            </a:pPr>
            <a:r>
              <a:rPr lang="en-US" sz="2000"/>
              <a:t>Formed by folding the quarter wavelength monopole.</a:t>
            </a:r>
          </a:p>
          <a:p>
            <a:pPr marL="285750" indent="-285750">
              <a:buFont typeface="Arial"/>
              <a:buChar char="•"/>
            </a:pPr>
            <a:endParaRPr lang="en-US" sz="2000"/>
          </a:p>
          <a:p>
            <a:pPr marL="285750" indent="-285750">
              <a:buFont typeface="Arial"/>
              <a:buChar char="•"/>
            </a:pPr>
            <a:r>
              <a:rPr lang="en-US" sz="2000"/>
              <a:t>Shaped like an "F" due to the feed and shorting pin.</a:t>
            </a:r>
          </a:p>
          <a:p>
            <a:pPr marL="285750" indent="-285750">
              <a:buFont typeface="Arial"/>
              <a:buChar char="•"/>
            </a:pPr>
            <a:endParaRPr lang="en-US" sz="2000"/>
          </a:p>
          <a:p>
            <a:pPr marL="285750" indent="-285750">
              <a:buFont typeface="Arial"/>
              <a:buChar char="•"/>
            </a:pPr>
            <a:r>
              <a:rPr lang="en-US" sz="2000"/>
              <a:t>Common applications include phones, Bluetooth devices, and Wi-fi routers.</a:t>
            </a:r>
          </a:p>
        </p:txBody>
      </p:sp>
    </p:spTree>
    <p:extLst>
      <p:ext uri="{BB962C8B-B14F-4D97-AF65-F5344CB8AC3E}">
        <p14:creationId xmlns:p14="http://schemas.microsoft.com/office/powerpoint/2010/main" val="3031754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20BF8-F66A-47C3-CEA5-479A8FA9CCD5}"/>
              </a:ext>
            </a:extLst>
          </p:cNvPr>
          <p:cNvSpPr>
            <a:spLocks noGrp="1"/>
          </p:cNvSpPr>
          <p:nvPr>
            <p:ph type="title"/>
          </p:nvPr>
        </p:nvSpPr>
        <p:spPr>
          <a:xfrm>
            <a:off x="630936" y="2780"/>
            <a:ext cx="5370534" cy="936196"/>
          </a:xfrm>
        </p:spPr>
        <p:txBody>
          <a:bodyPr anchor="b">
            <a:normAutofit/>
          </a:bodyPr>
          <a:lstStyle/>
          <a:p>
            <a:r>
              <a:rPr lang="en-US"/>
              <a:t>PIFA Structure</a:t>
            </a:r>
          </a:p>
        </p:txBody>
      </p:sp>
      <p:sp>
        <p:nvSpPr>
          <p:cNvPr id="3" name="Content Placeholder 2">
            <a:extLst>
              <a:ext uri="{FF2B5EF4-FFF2-40B4-BE49-F238E27FC236}">
                <a16:creationId xmlns:a16="http://schemas.microsoft.com/office/drawing/2014/main" id="{F6881C5C-71AB-01EE-04E1-E4C31E295CE9}"/>
              </a:ext>
            </a:extLst>
          </p:cNvPr>
          <p:cNvSpPr>
            <a:spLocks noGrp="1"/>
          </p:cNvSpPr>
          <p:nvPr>
            <p:ph idx="1"/>
          </p:nvPr>
        </p:nvSpPr>
        <p:spPr>
          <a:xfrm>
            <a:off x="630936" y="1450222"/>
            <a:ext cx="3429000" cy="3410712"/>
          </a:xfrm>
        </p:spPr>
        <p:txBody>
          <a:bodyPr vert="horz" lIns="91440" tIns="45720" rIns="91440" bIns="45720" rtlCol="0" anchor="t">
            <a:normAutofit/>
          </a:bodyPr>
          <a:lstStyle/>
          <a:p>
            <a:r>
              <a:rPr lang="en-US" sz="2200"/>
              <a:t>Radiating patch on top</a:t>
            </a:r>
          </a:p>
          <a:p>
            <a:r>
              <a:rPr lang="en-US" sz="2200"/>
              <a:t>Ground plane that acts as reference</a:t>
            </a:r>
          </a:p>
          <a:p>
            <a:r>
              <a:rPr lang="en-US" sz="2200"/>
              <a:t>Shortening pins connecting to ground</a:t>
            </a:r>
          </a:p>
          <a:p>
            <a:r>
              <a:rPr lang="en-US" sz="2200"/>
              <a:t>A Feed point</a:t>
            </a:r>
          </a:p>
          <a:p>
            <a:r>
              <a:rPr lang="en-US" sz="2200"/>
              <a:t>Substrate</a:t>
            </a:r>
          </a:p>
          <a:p>
            <a:pPr marL="0" indent="0">
              <a:buNone/>
            </a:pPr>
            <a:endParaRPr lang="en-US" sz="2200"/>
          </a:p>
          <a:p>
            <a:endParaRPr lang="en-US" sz="2200"/>
          </a:p>
          <a:p>
            <a:endParaRPr lang="en-US" sz="2200"/>
          </a:p>
        </p:txBody>
      </p:sp>
      <p:pic>
        <p:nvPicPr>
          <p:cNvPr id="7" name="Picture 6" descr="A diagram of a triangle with arrows&#10;&#10;AI-generated content may be incorrect.">
            <a:extLst>
              <a:ext uri="{FF2B5EF4-FFF2-40B4-BE49-F238E27FC236}">
                <a16:creationId xmlns:a16="http://schemas.microsoft.com/office/drawing/2014/main" id="{EC8CA0B5-E380-2D2F-45BB-D93C8F029AA8}"/>
              </a:ext>
            </a:extLst>
          </p:cNvPr>
          <p:cNvPicPr>
            <a:picLocks noChangeAspect="1"/>
          </p:cNvPicPr>
          <p:nvPr/>
        </p:nvPicPr>
        <p:blipFill>
          <a:blip r:embed="rId2"/>
          <a:srcRect l="1036" t="2761" r="648" b="1840"/>
          <a:stretch>
            <a:fillRect/>
          </a:stretch>
        </p:blipFill>
        <p:spPr>
          <a:xfrm>
            <a:off x="4059617" y="1711726"/>
            <a:ext cx="7916362" cy="3251041"/>
          </a:xfrm>
          <a:prstGeom prst="rect">
            <a:avLst/>
          </a:prstGeom>
        </p:spPr>
      </p:pic>
    </p:spTree>
    <p:extLst>
      <p:ext uri="{BB962C8B-B14F-4D97-AF65-F5344CB8AC3E}">
        <p14:creationId xmlns:p14="http://schemas.microsoft.com/office/powerpoint/2010/main" val="2057001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56E8F-7D52-7461-63D3-E3D794E0FE11}"/>
              </a:ext>
            </a:extLst>
          </p:cNvPr>
          <p:cNvSpPr>
            <a:spLocks noGrp="1"/>
          </p:cNvSpPr>
          <p:nvPr>
            <p:ph type="title"/>
          </p:nvPr>
        </p:nvSpPr>
        <p:spPr>
          <a:xfrm>
            <a:off x="630936" y="117601"/>
            <a:ext cx="4900808" cy="936196"/>
          </a:xfrm>
        </p:spPr>
        <p:txBody>
          <a:bodyPr anchor="b">
            <a:normAutofit/>
          </a:bodyPr>
          <a:lstStyle/>
          <a:p>
            <a:r>
              <a:rPr lang="en-US"/>
              <a:t>PIFA Operation</a:t>
            </a:r>
          </a:p>
        </p:txBody>
      </p:sp>
      <p:sp>
        <p:nvSpPr>
          <p:cNvPr id="3" name="Content Placeholder 2">
            <a:extLst>
              <a:ext uri="{FF2B5EF4-FFF2-40B4-BE49-F238E27FC236}">
                <a16:creationId xmlns:a16="http://schemas.microsoft.com/office/drawing/2014/main" id="{67B5B0F6-70BE-9874-C335-78D30AE8C8B1}"/>
              </a:ext>
            </a:extLst>
          </p:cNvPr>
          <p:cNvSpPr>
            <a:spLocks noGrp="1"/>
          </p:cNvSpPr>
          <p:nvPr>
            <p:ph idx="1"/>
          </p:nvPr>
        </p:nvSpPr>
        <p:spPr>
          <a:xfrm>
            <a:off x="630936" y="1147509"/>
            <a:ext cx="3742150" cy="3410712"/>
          </a:xfrm>
        </p:spPr>
        <p:txBody>
          <a:bodyPr vert="horz" lIns="91440" tIns="45720" rIns="91440" bIns="45720" rtlCol="0" anchor="t">
            <a:noAutofit/>
          </a:bodyPr>
          <a:lstStyle/>
          <a:p>
            <a:r>
              <a:rPr lang="en-US" sz="1900"/>
              <a:t>Electrical Length is approximately a quarter wavelength</a:t>
            </a:r>
          </a:p>
          <a:p>
            <a:pPr marL="493395" lvl="1">
              <a:buFont typeface="Courier New" panose="020B0604020202020204" pitchFamily="34" charset="0"/>
              <a:buChar char="o"/>
            </a:pPr>
            <a:r>
              <a:rPr lang="en-US" sz="1900"/>
              <a:t>L1 + L2  = </a:t>
            </a:r>
            <a:r>
              <a:rPr lang="en-US" sz="1900">
                <a:highlight>
                  <a:srgbClr val="FFFFFF"/>
                </a:highlight>
                <a:ea typeface="+mn-lt"/>
                <a:cs typeface="+mn-lt"/>
              </a:rPr>
              <a:t>λ/4</a:t>
            </a:r>
          </a:p>
          <a:p>
            <a:r>
              <a:rPr lang="en-US" sz="1900">
                <a:highlight>
                  <a:srgbClr val="FFFFFF"/>
                </a:highlight>
                <a:ea typeface="+mn-lt"/>
                <a:cs typeface="+mn-lt"/>
              </a:rPr>
              <a:t>Feed- short distance controls impedance</a:t>
            </a:r>
          </a:p>
          <a:p>
            <a:pPr marL="493395" lvl="1">
              <a:buFont typeface="Courier New" panose="020B0604020202020204" pitchFamily="34" charset="0"/>
              <a:buChar char="o"/>
            </a:pPr>
            <a:r>
              <a:rPr lang="en-US" sz="1900">
                <a:highlight>
                  <a:srgbClr val="FFFFFF"/>
                </a:highlight>
                <a:ea typeface="+mn-lt"/>
                <a:cs typeface="+mn-lt"/>
              </a:rPr>
              <a:t>Closer → Lower</a:t>
            </a:r>
          </a:p>
          <a:p>
            <a:pPr marL="493395" lvl="1">
              <a:buFont typeface="Courier New" panose="020B0604020202020204" pitchFamily="34" charset="0"/>
              <a:buChar char="o"/>
            </a:pPr>
            <a:r>
              <a:rPr lang="en-US" sz="1900">
                <a:highlight>
                  <a:srgbClr val="FFFFFF"/>
                </a:highlight>
                <a:ea typeface="+mn-lt"/>
                <a:cs typeface="+mn-lt"/>
              </a:rPr>
              <a:t>Further → Higher</a:t>
            </a:r>
          </a:p>
          <a:p>
            <a:r>
              <a:rPr lang="en-US" sz="1900">
                <a:highlight>
                  <a:srgbClr val="FFFFFF"/>
                </a:highlight>
                <a:ea typeface="+mn-lt"/>
                <a:cs typeface="+mn-lt"/>
              </a:rPr>
              <a:t>Naturally close to 50 Ohms matching</a:t>
            </a:r>
          </a:p>
          <a:p>
            <a:r>
              <a:rPr lang="en-US" sz="1900">
                <a:highlight>
                  <a:srgbClr val="FFFFFF"/>
                </a:highlight>
                <a:ea typeface="+mn-lt"/>
                <a:cs typeface="+mn-lt"/>
              </a:rPr>
              <a:t>No external matching needed usually</a:t>
            </a:r>
          </a:p>
          <a:p>
            <a:r>
              <a:rPr lang="en-US" sz="1900">
                <a:highlight>
                  <a:srgbClr val="FFFFFF"/>
                </a:highlight>
                <a:ea typeface="+mn-lt"/>
                <a:cs typeface="+mn-lt"/>
              </a:rPr>
              <a:t>Radiation pattern is close to omnidirectional</a:t>
            </a:r>
          </a:p>
          <a:p>
            <a:pPr marL="0" indent="0">
              <a:buNone/>
            </a:pPr>
            <a:endParaRPr lang="en-US" sz="1900">
              <a:highlight>
                <a:srgbClr val="FFFFFF"/>
              </a:highlight>
              <a:ea typeface="+mn-lt"/>
              <a:cs typeface="+mn-lt"/>
            </a:endParaRPr>
          </a:p>
          <a:p>
            <a:pPr marL="457200" lvl="1" indent="0">
              <a:buNone/>
            </a:pPr>
            <a:r>
              <a:rPr lang="en-US" sz="1900">
                <a:highlight>
                  <a:srgbClr val="FFFFFF"/>
                </a:highlight>
                <a:ea typeface="+mn-lt"/>
                <a:cs typeface="+mn-lt"/>
              </a:rPr>
              <a:t> </a:t>
            </a:r>
          </a:p>
          <a:p>
            <a:pPr marL="457200" lvl="1" indent="0">
              <a:buNone/>
            </a:pPr>
            <a:endParaRPr lang="en-US" sz="1900">
              <a:highlight>
                <a:srgbClr val="FFFFFF"/>
              </a:highlight>
              <a:ea typeface="+mn-lt"/>
              <a:cs typeface="+mn-lt"/>
            </a:endParaRPr>
          </a:p>
        </p:txBody>
      </p:sp>
      <p:pic>
        <p:nvPicPr>
          <p:cNvPr id="5" name="Picture 4" descr="Diagram of a rectangular object with arrows pointing to the side&#10;&#10;AI-generated content may be incorrect.">
            <a:extLst>
              <a:ext uri="{FF2B5EF4-FFF2-40B4-BE49-F238E27FC236}">
                <a16:creationId xmlns:a16="http://schemas.microsoft.com/office/drawing/2014/main" id="{3488DF0F-90A9-5130-9ABC-307FD0F0A3BE}"/>
              </a:ext>
            </a:extLst>
          </p:cNvPr>
          <p:cNvPicPr>
            <a:picLocks noChangeAspect="1"/>
          </p:cNvPicPr>
          <p:nvPr/>
        </p:nvPicPr>
        <p:blipFill>
          <a:blip r:embed="rId2"/>
          <a:srcRect l="974" t="1497" r="-3571" b="1198"/>
          <a:stretch>
            <a:fillRect/>
          </a:stretch>
        </p:blipFill>
        <p:spPr>
          <a:xfrm>
            <a:off x="4727364" y="1608559"/>
            <a:ext cx="7083065" cy="3644401"/>
          </a:xfrm>
          <a:prstGeom prst="rect">
            <a:avLst/>
          </a:prstGeom>
        </p:spPr>
      </p:pic>
    </p:spTree>
    <p:extLst>
      <p:ext uri="{BB962C8B-B14F-4D97-AF65-F5344CB8AC3E}">
        <p14:creationId xmlns:p14="http://schemas.microsoft.com/office/powerpoint/2010/main" val="2780155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0727F-1BF7-9A15-0711-88CBDBC26669}"/>
              </a:ext>
            </a:extLst>
          </p:cNvPr>
          <p:cNvSpPr>
            <a:spLocks noGrp="1"/>
          </p:cNvSpPr>
          <p:nvPr>
            <p:ph type="title"/>
          </p:nvPr>
        </p:nvSpPr>
        <p:spPr>
          <a:xfrm>
            <a:off x="914400" y="265135"/>
            <a:ext cx="11386158" cy="1187570"/>
          </a:xfrm>
        </p:spPr>
        <p:txBody>
          <a:bodyPr>
            <a:noAutofit/>
          </a:bodyPr>
          <a:lstStyle/>
          <a:p>
            <a:r>
              <a:rPr lang="en-US" sz="3600"/>
              <a:t>How Different PIFA Dimensions Affect BW / Frequency</a:t>
            </a:r>
          </a:p>
        </p:txBody>
      </p:sp>
      <p:graphicFrame>
        <p:nvGraphicFramePr>
          <p:cNvPr id="7" name="Content Placeholder 6">
            <a:extLst>
              <a:ext uri="{FF2B5EF4-FFF2-40B4-BE49-F238E27FC236}">
                <a16:creationId xmlns:a16="http://schemas.microsoft.com/office/drawing/2014/main" id="{50B36394-9F16-6086-18E6-7D0C890CFA66}"/>
              </a:ext>
            </a:extLst>
          </p:cNvPr>
          <p:cNvGraphicFramePr>
            <a:graphicFrameLocks noGrp="1"/>
          </p:cNvGraphicFramePr>
          <p:nvPr>
            <p:ph idx="1"/>
            <p:extLst>
              <p:ext uri="{D42A27DB-BD31-4B8C-83A1-F6EECF244321}">
                <p14:modId xmlns:p14="http://schemas.microsoft.com/office/powerpoint/2010/main" val="2855860864"/>
              </p:ext>
            </p:extLst>
          </p:nvPr>
        </p:nvGraphicFramePr>
        <p:xfrm>
          <a:off x="914400" y="2529989"/>
          <a:ext cx="10363200" cy="2701318"/>
        </p:xfrm>
        <a:graphic>
          <a:graphicData uri="http://schemas.openxmlformats.org/drawingml/2006/table">
            <a:tbl>
              <a:tblPr firstRow="1" bandRow="1">
                <a:tableStyleId>{5C22544A-7EE6-4342-B048-85BDC9FD1C3A}</a:tableStyleId>
              </a:tblPr>
              <a:tblGrid>
                <a:gridCol w="3454400">
                  <a:extLst>
                    <a:ext uri="{9D8B030D-6E8A-4147-A177-3AD203B41FA5}">
                      <a16:colId xmlns:a16="http://schemas.microsoft.com/office/drawing/2014/main" val="2392954708"/>
                    </a:ext>
                  </a:extLst>
                </a:gridCol>
                <a:gridCol w="3454400">
                  <a:extLst>
                    <a:ext uri="{9D8B030D-6E8A-4147-A177-3AD203B41FA5}">
                      <a16:colId xmlns:a16="http://schemas.microsoft.com/office/drawing/2014/main" val="205030498"/>
                    </a:ext>
                  </a:extLst>
                </a:gridCol>
                <a:gridCol w="3454400">
                  <a:extLst>
                    <a:ext uri="{9D8B030D-6E8A-4147-A177-3AD203B41FA5}">
                      <a16:colId xmlns:a16="http://schemas.microsoft.com/office/drawing/2014/main" val="2431600419"/>
                    </a:ext>
                  </a:extLst>
                </a:gridCol>
              </a:tblGrid>
              <a:tr h="351692">
                <a:tc>
                  <a:txBody>
                    <a:bodyPr/>
                    <a:lstStyle/>
                    <a:p>
                      <a:r>
                        <a:rPr lang="en-US"/>
                        <a:t>Dimension</a:t>
                      </a:r>
                    </a:p>
                  </a:txBody>
                  <a:tcPr/>
                </a:tc>
                <a:tc>
                  <a:txBody>
                    <a:bodyPr/>
                    <a:lstStyle/>
                    <a:p>
                      <a:r>
                        <a:rPr lang="en-US"/>
                        <a:t>BW</a:t>
                      </a:r>
                    </a:p>
                  </a:txBody>
                  <a:tcPr/>
                </a:tc>
                <a:tc>
                  <a:txBody>
                    <a:bodyPr/>
                    <a:lstStyle/>
                    <a:p>
                      <a:r>
                        <a:rPr lang="en-US"/>
                        <a:t>Frequency</a:t>
                      </a:r>
                    </a:p>
                  </a:txBody>
                  <a:tcPr/>
                </a:tc>
                <a:extLst>
                  <a:ext uri="{0D108BD9-81ED-4DB2-BD59-A6C34878D82A}">
                    <a16:rowId xmlns:a16="http://schemas.microsoft.com/office/drawing/2014/main" val="2656938202"/>
                  </a:ext>
                </a:extLst>
              </a:tr>
              <a:tr h="186137">
                <a:tc>
                  <a:txBody>
                    <a:bodyPr/>
                    <a:lstStyle/>
                    <a:p>
                      <a:r>
                        <a:rPr lang="en-US"/>
                        <a:t>H</a:t>
                      </a:r>
                    </a:p>
                  </a:txBody>
                  <a:tcPr/>
                </a:tc>
                <a:tc>
                  <a:txBody>
                    <a:bodyPr/>
                    <a:lstStyle/>
                    <a:p>
                      <a:r>
                        <a:rPr lang="en-US"/>
                        <a:t>Increases</a:t>
                      </a:r>
                    </a:p>
                  </a:txBody>
                  <a:tcPr/>
                </a:tc>
                <a:tc>
                  <a:txBody>
                    <a:bodyPr/>
                    <a:lstStyle/>
                    <a:p>
                      <a:r>
                        <a:rPr lang="en-US"/>
                        <a:t>Decreases</a:t>
                      </a:r>
                    </a:p>
                  </a:txBody>
                  <a:tcPr/>
                </a:tc>
                <a:extLst>
                  <a:ext uri="{0D108BD9-81ED-4DB2-BD59-A6C34878D82A}">
                    <a16:rowId xmlns:a16="http://schemas.microsoft.com/office/drawing/2014/main" val="2555153656"/>
                  </a:ext>
                </a:extLst>
              </a:tr>
              <a:tr h="186137">
                <a:tc>
                  <a:txBody>
                    <a:bodyPr/>
                    <a:lstStyle/>
                    <a:p>
                      <a:pPr lvl="0">
                        <a:buNone/>
                      </a:pPr>
                      <a:r>
                        <a:rPr lang="en-US"/>
                        <a:t>W</a:t>
                      </a:r>
                    </a:p>
                  </a:txBody>
                  <a:tcPr/>
                </a:tc>
                <a:tc>
                  <a:txBody>
                    <a:bodyPr/>
                    <a:lstStyle/>
                    <a:p>
                      <a:pPr lvl="0">
                        <a:buNone/>
                      </a:pPr>
                      <a:r>
                        <a:rPr lang="en-US"/>
                        <a:t>Increases</a:t>
                      </a:r>
                    </a:p>
                  </a:txBody>
                  <a:tcPr/>
                </a:tc>
                <a:tc>
                  <a:txBody>
                    <a:bodyPr/>
                    <a:lstStyle/>
                    <a:p>
                      <a:pPr lvl="0">
                        <a:buNone/>
                      </a:pPr>
                      <a:r>
                        <a:rPr lang="en-US"/>
                        <a:t>Increases</a:t>
                      </a:r>
                    </a:p>
                  </a:txBody>
                  <a:tcPr/>
                </a:tc>
                <a:extLst>
                  <a:ext uri="{0D108BD9-81ED-4DB2-BD59-A6C34878D82A}">
                    <a16:rowId xmlns:a16="http://schemas.microsoft.com/office/drawing/2014/main" val="3006214427"/>
                  </a:ext>
                </a:extLst>
              </a:tr>
              <a:tr h="261755">
                <a:tc>
                  <a:txBody>
                    <a:bodyPr/>
                    <a:lstStyle/>
                    <a:p>
                      <a:r>
                        <a:rPr lang="en-US"/>
                        <a:t>L1</a:t>
                      </a:r>
                    </a:p>
                  </a:txBody>
                  <a:tcPr/>
                </a:tc>
                <a:tc>
                  <a:txBody>
                    <a:bodyPr/>
                    <a:lstStyle/>
                    <a:p>
                      <a:r>
                        <a:rPr lang="en-US"/>
                        <a:t>Increases Slightly</a:t>
                      </a:r>
                    </a:p>
                  </a:txBody>
                  <a:tcPr/>
                </a:tc>
                <a:tc>
                  <a:txBody>
                    <a:bodyPr/>
                    <a:lstStyle/>
                    <a:p>
                      <a:r>
                        <a:rPr lang="en-US"/>
                        <a:t>Decreases</a:t>
                      </a:r>
                    </a:p>
                  </a:txBody>
                  <a:tcPr/>
                </a:tc>
                <a:extLst>
                  <a:ext uri="{0D108BD9-81ED-4DB2-BD59-A6C34878D82A}">
                    <a16:rowId xmlns:a16="http://schemas.microsoft.com/office/drawing/2014/main" val="2762346080"/>
                  </a:ext>
                </a:extLst>
              </a:tr>
              <a:tr h="261755">
                <a:tc>
                  <a:txBody>
                    <a:bodyPr/>
                    <a:lstStyle/>
                    <a:p>
                      <a:pPr lvl="0">
                        <a:buNone/>
                      </a:pPr>
                      <a:r>
                        <a:rPr lang="en-US"/>
                        <a:t>Feed Plate Width</a:t>
                      </a:r>
                    </a:p>
                  </a:txBody>
                  <a:tcPr/>
                </a:tc>
                <a:tc>
                  <a:txBody>
                    <a:bodyPr/>
                    <a:lstStyle/>
                    <a:p>
                      <a:pPr lvl="0">
                        <a:buNone/>
                      </a:pPr>
                      <a:r>
                        <a:rPr lang="en-US"/>
                        <a:t>Increases</a:t>
                      </a:r>
                    </a:p>
                  </a:txBody>
                  <a:tcPr/>
                </a:tc>
                <a:tc>
                  <a:txBody>
                    <a:bodyPr/>
                    <a:lstStyle/>
                    <a:p>
                      <a:pPr lvl="0">
                        <a:buNone/>
                      </a:pPr>
                      <a:r>
                        <a:rPr lang="en-US"/>
                        <a:t>Increases</a:t>
                      </a:r>
                    </a:p>
                  </a:txBody>
                  <a:tcPr/>
                </a:tc>
                <a:extLst>
                  <a:ext uri="{0D108BD9-81ED-4DB2-BD59-A6C34878D82A}">
                    <a16:rowId xmlns:a16="http://schemas.microsoft.com/office/drawing/2014/main" val="4204214407"/>
                  </a:ext>
                </a:extLst>
              </a:tr>
              <a:tr h="436259">
                <a:tc>
                  <a:txBody>
                    <a:bodyPr/>
                    <a:lstStyle/>
                    <a:p>
                      <a:r>
                        <a:rPr lang="en-US"/>
                        <a:t>L2</a:t>
                      </a:r>
                    </a:p>
                  </a:txBody>
                  <a:tcPr/>
                </a:tc>
                <a:tc>
                  <a:txBody>
                    <a:bodyPr/>
                    <a:lstStyle/>
                    <a:p>
                      <a:pPr lvl="0">
                        <a:buNone/>
                      </a:pPr>
                      <a:r>
                        <a:rPr lang="en-US" sz="1800" b="0" i="0" u="none" strike="noStrike" noProof="0">
                          <a:latin typeface="Grandview Display"/>
                        </a:rPr>
                        <a:t>Increases Slightly</a:t>
                      </a:r>
                      <a:endParaRPr lang="en-US" b="0">
                        <a:latin typeface="Grandview Display"/>
                      </a:endParaRPr>
                    </a:p>
                  </a:txBody>
                  <a:tcPr/>
                </a:tc>
                <a:tc>
                  <a:txBody>
                    <a:bodyPr/>
                    <a:lstStyle/>
                    <a:p>
                      <a:r>
                        <a:rPr lang="en-US"/>
                        <a:t>Decreases</a:t>
                      </a:r>
                    </a:p>
                  </a:txBody>
                  <a:tcPr/>
                </a:tc>
                <a:extLst>
                  <a:ext uri="{0D108BD9-81ED-4DB2-BD59-A6C34878D82A}">
                    <a16:rowId xmlns:a16="http://schemas.microsoft.com/office/drawing/2014/main" val="994449724"/>
                  </a:ext>
                </a:extLst>
              </a:tr>
              <a:tr h="436259">
                <a:tc>
                  <a:txBody>
                    <a:bodyPr/>
                    <a:lstStyle/>
                    <a:p>
                      <a:pPr lvl="0">
                        <a:buNone/>
                      </a:pPr>
                      <a:r>
                        <a:rPr lang="en-US"/>
                        <a:t>D</a:t>
                      </a:r>
                    </a:p>
                  </a:txBody>
                  <a:tcPr/>
                </a:tc>
                <a:tc>
                  <a:txBody>
                    <a:bodyPr/>
                    <a:lstStyle/>
                    <a:p>
                      <a:pPr lvl="0">
                        <a:buNone/>
                      </a:pPr>
                      <a:r>
                        <a:rPr lang="en-US">
                          <a:latin typeface="Grandview Display"/>
                        </a:rPr>
                        <a:t>Increases</a:t>
                      </a:r>
                    </a:p>
                  </a:txBody>
                  <a:tcPr/>
                </a:tc>
                <a:tc>
                  <a:txBody>
                    <a:bodyPr/>
                    <a:lstStyle/>
                    <a:p>
                      <a:pPr lvl="0">
                        <a:buNone/>
                      </a:pPr>
                      <a:r>
                        <a:rPr lang="en-US"/>
                        <a:t>Decreases Slightly</a:t>
                      </a:r>
                    </a:p>
                  </a:txBody>
                  <a:tcPr/>
                </a:tc>
                <a:extLst>
                  <a:ext uri="{0D108BD9-81ED-4DB2-BD59-A6C34878D82A}">
                    <a16:rowId xmlns:a16="http://schemas.microsoft.com/office/drawing/2014/main" val="1119592299"/>
                  </a:ext>
                </a:extLst>
              </a:tr>
            </a:tbl>
          </a:graphicData>
        </a:graphic>
      </p:graphicFrame>
      <p:sp>
        <p:nvSpPr>
          <p:cNvPr id="3" name="TextBox 2">
            <a:extLst>
              <a:ext uri="{FF2B5EF4-FFF2-40B4-BE49-F238E27FC236}">
                <a16:creationId xmlns:a16="http://schemas.microsoft.com/office/drawing/2014/main" id="{9F3DC50A-32AD-5722-090E-006A444F025D}"/>
              </a:ext>
            </a:extLst>
          </p:cNvPr>
          <p:cNvSpPr txBox="1"/>
          <p:nvPr/>
        </p:nvSpPr>
        <p:spPr>
          <a:xfrm>
            <a:off x="914400" y="1597152"/>
            <a:ext cx="98999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Increasing electrical length lowers resonant frequency, while increased spacing improves bandwidth.</a:t>
            </a:r>
            <a:endParaRPr lang="en-US"/>
          </a:p>
        </p:txBody>
      </p:sp>
    </p:spTree>
    <p:extLst>
      <p:ext uri="{BB962C8B-B14F-4D97-AF65-F5344CB8AC3E}">
        <p14:creationId xmlns:p14="http://schemas.microsoft.com/office/powerpoint/2010/main" val="865045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35EA7-89AE-EAF6-FE37-DA4C6660BE60}"/>
              </a:ext>
            </a:extLst>
          </p:cNvPr>
          <p:cNvSpPr>
            <a:spLocks noGrp="1"/>
          </p:cNvSpPr>
          <p:nvPr>
            <p:ph type="title"/>
          </p:nvPr>
        </p:nvSpPr>
        <p:spPr>
          <a:xfrm>
            <a:off x="914400" y="1371601"/>
            <a:ext cx="10363200" cy="1187570"/>
          </a:xfrm>
        </p:spPr>
        <p:txBody>
          <a:bodyPr anchor="t">
            <a:normAutofit/>
          </a:bodyPr>
          <a:lstStyle/>
          <a:p>
            <a:r>
              <a:rPr lang="en-US"/>
              <a:t>Capacitive loading to reduce PIFA size</a:t>
            </a:r>
          </a:p>
        </p:txBody>
      </p:sp>
      <p:sp>
        <p:nvSpPr>
          <p:cNvPr id="3" name="Content Placeholder 2">
            <a:extLst>
              <a:ext uri="{FF2B5EF4-FFF2-40B4-BE49-F238E27FC236}">
                <a16:creationId xmlns:a16="http://schemas.microsoft.com/office/drawing/2014/main" id="{7B993E71-CCE2-02D6-DE4A-FEE5250EF9C4}"/>
              </a:ext>
            </a:extLst>
          </p:cNvPr>
          <p:cNvSpPr>
            <a:spLocks noGrp="1"/>
          </p:cNvSpPr>
          <p:nvPr>
            <p:ph sz="half" idx="1"/>
          </p:nvPr>
        </p:nvSpPr>
        <p:spPr>
          <a:xfrm>
            <a:off x="914400" y="2849526"/>
            <a:ext cx="5105400" cy="3210479"/>
          </a:xfrm>
        </p:spPr>
        <p:txBody>
          <a:bodyPr vert="horz" lIns="91440" tIns="45720" rIns="91440" bIns="45720" rtlCol="0" anchor="t">
            <a:normAutofit/>
          </a:bodyPr>
          <a:lstStyle/>
          <a:p>
            <a:pPr>
              <a:lnSpc>
                <a:spcPct val="110000"/>
              </a:lnSpc>
            </a:pPr>
            <a:r>
              <a:rPr lang="en-US"/>
              <a:t>Add a capacitor from the plate to ground</a:t>
            </a:r>
          </a:p>
          <a:p>
            <a:pPr>
              <a:lnSpc>
                <a:spcPct val="110000"/>
              </a:lnSpc>
            </a:pPr>
            <a:r>
              <a:rPr lang="en-US"/>
              <a:t>Increases the antenna's electrical length</a:t>
            </a:r>
          </a:p>
          <a:p>
            <a:pPr>
              <a:lnSpc>
                <a:spcPct val="110000"/>
              </a:lnSpc>
            </a:pPr>
            <a:r>
              <a:rPr lang="en-US"/>
              <a:t>Lowers the resonant frequency without changing the size</a:t>
            </a:r>
          </a:p>
          <a:p>
            <a:pPr>
              <a:lnSpc>
                <a:spcPct val="110000"/>
              </a:lnSpc>
            </a:pPr>
            <a:r>
              <a:rPr lang="en-US"/>
              <a:t>Allows for the PIFA to be made smaller for the same bandwidth</a:t>
            </a:r>
          </a:p>
          <a:p>
            <a:pPr>
              <a:lnSpc>
                <a:spcPct val="110000"/>
              </a:lnSpc>
            </a:pPr>
            <a:endParaRPr lang="en-US"/>
          </a:p>
        </p:txBody>
      </p:sp>
      <p:pic>
        <p:nvPicPr>
          <p:cNvPr id="4" name="Picture 3" descr="Diagram of a diagram of a loading bar&#10;&#10;AI-generated content may be incorrect.">
            <a:extLst>
              <a:ext uri="{FF2B5EF4-FFF2-40B4-BE49-F238E27FC236}">
                <a16:creationId xmlns:a16="http://schemas.microsoft.com/office/drawing/2014/main" id="{63BB56A2-FAE6-4937-27CF-FDDCB08052CE}"/>
              </a:ext>
            </a:extLst>
          </p:cNvPr>
          <p:cNvPicPr>
            <a:picLocks noChangeAspect="1"/>
          </p:cNvPicPr>
          <p:nvPr/>
        </p:nvPicPr>
        <p:blipFill>
          <a:blip r:embed="rId2"/>
          <a:stretch>
            <a:fillRect/>
          </a:stretch>
        </p:blipFill>
        <p:spPr>
          <a:xfrm>
            <a:off x="6172200" y="3637902"/>
            <a:ext cx="5105400" cy="1633727"/>
          </a:xfrm>
          <a:prstGeom prst="rect">
            <a:avLst/>
          </a:prstGeom>
          <a:noFill/>
        </p:spPr>
      </p:pic>
      <p:sp>
        <p:nvSpPr>
          <p:cNvPr id="9" name="Date Placeholder 4">
            <a:extLst>
              <a:ext uri="{FF2B5EF4-FFF2-40B4-BE49-F238E27FC236}">
                <a16:creationId xmlns:a16="http://schemas.microsoft.com/office/drawing/2014/main" id="{443F5208-8025-C09A-8738-38A80C769A21}"/>
              </a:ext>
            </a:extLst>
          </p:cNvPr>
          <p:cNvSpPr>
            <a:spLocks noGrp="1"/>
          </p:cNvSpPr>
          <p:nvPr>
            <p:ph type="dt" sz="half" idx="10"/>
          </p:nvPr>
        </p:nvSpPr>
        <p:spPr>
          <a:xfrm>
            <a:off x="912628" y="6356350"/>
            <a:ext cx="2743200" cy="365125"/>
          </a:xfrm>
        </p:spPr>
        <p:txBody>
          <a:bodyPr/>
          <a:lstStyle/>
          <a:p>
            <a:pPr>
              <a:spcAft>
                <a:spcPts val="600"/>
              </a:spcAft>
            </a:pPr>
            <a:fld id="{70BAF552-80CD-4A9D-9D42-C5BED3771D53}" type="datetime1">
              <a:pPr>
                <a:spcAft>
                  <a:spcPts val="600"/>
                </a:spcAft>
              </a:pPr>
              <a:t>9/21/2026</a:t>
            </a:fld>
            <a:endParaRPr lang="en-US"/>
          </a:p>
        </p:txBody>
      </p:sp>
      <p:sp>
        <p:nvSpPr>
          <p:cNvPr id="11" name="Footer Placeholder 5">
            <a:extLst>
              <a:ext uri="{FF2B5EF4-FFF2-40B4-BE49-F238E27FC236}">
                <a16:creationId xmlns:a16="http://schemas.microsoft.com/office/drawing/2014/main" id="{7EEA18C8-7464-302E-8DC0-C60EB44C615B}"/>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3" name="Slide Number Placeholder 6">
            <a:extLst>
              <a:ext uri="{FF2B5EF4-FFF2-40B4-BE49-F238E27FC236}">
                <a16:creationId xmlns:a16="http://schemas.microsoft.com/office/drawing/2014/main" id="{952F5CC1-C7FC-412A-2101-8BF9ABBB700B}"/>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14</a:t>
            </a:fld>
            <a:endParaRPr lang="en-US"/>
          </a:p>
        </p:txBody>
      </p:sp>
    </p:spTree>
    <p:extLst>
      <p:ext uri="{BB962C8B-B14F-4D97-AF65-F5344CB8AC3E}">
        <p14:creationId xmlns:p14="http://schemas.microsoft.com/office/powerpoint/2010/main" val="879622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E989B-4F98-6BFB-CE47-C74B60897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4D533-4CCA-005B-F73A-C16391F14253}"/>
              </a:ext>
            </a:extLst>
          </p:cNvPr>
          <p:cNvSpPr>
            <a:spLocks noGrp="1"/>
          </p:cNvSpPr>
          <p:nvPr>
            <p:ph type="title"/>
          </p:nvPr>
        </p:nvSpPr>
        <p:spPr>
          <a:xfrm>
            <a:off x="914400" y="1371601"/>
            <a:ext cx="10363200" cy="1187570"/>
          </a:xfrm>
        </p:spPr>
        <p:txBody>
          <a:bodyPr anchor="t">
            <a:normAutofit/>
          </a:bodyPr>
          <a:lstStyle/>
          <a:p>
            <a:r>
              <a:rPr lang="en-US"/>
              <a:t>Initial Design</a:t>
            </a:r>
          </a:p>
        </p:txBody>
      </p:sp>
      <p:sp>
        <p:nvSpPr>
          <p:cNvPr id="3" name="Content Placeholder 2">
            <a:extLst>
              <a:ext uri="{FF2B5EF4-FFF2-40B4-BE49-F238E27FC236}">
                <a16:creationId xmlns:a16="http://schemas.microsoft.com/office/drawing/2014/main" id="{8DAAFBE9-2927-3662-ECAF-F25985010C8A}"/>
              </a:ext>
            </a:extLst>
          </p:cNvPr>
          <p:cNvSpPr>
            <a:spLocks noGrp="1"/>
          </p:cNvSpPr>
          <p:nvPr>
            <p:ph sz="half" idx="1"/>
          </p:nvPr>
        </p:nvSpPr>
        <p:spPr>
          <a:xfrm>
            <a:off x="914400" y="2849526"/>
            <a:ext cx="5105400" cy="3210479"/>
          </a:xfrm>
        </p:spPr>
        <p:txBody>
          <a:bodyPr vert="horz" lIns="91440" tIns="45720" rIns="91440" bIns="45720" rtlCol="0" anchor="t">
            <a:normAutofit/>
          </a:bodyPr>
          <a:lstStyle/>
          <a:p>
            <a:r>
              <a:rPr lang="en-US"/>
              <a:t>Infinite PEC ground-plane</a:t>
            </a:r>
            <a:endParaRPr lang="en-US" err="1"/>
          </a:p>
          <a:p>
            <a:r>
              <a:rPr lang="en-US"/>
              <a:t>Mismatched L2 and W</a:t>
            </a:r>
          </a:p>
          <a:p>
            <a:r>
              <a:rPr lang="en-US"/>
              <a:t>Feed port with a wire on the right edge</a:t>
            </a:r>
          </a:p>
          <a:p>
            <a:r>
              <a:rPr lang="en-US"/>
              <a:t>H quite tall and arbitrary</a:t>
            </a:r>
          </a:p>
          <a:p>
            <a:endParaRPr lang="en-US"/>
          </a:p>
        </p:txBody>
      </p:sp>
      <p:pic>
        <p:nvPicPr>
          <p:cNvPr id="5" name="Picture 4" descr="A drawing of a grid on a brown surface&#10;&#10;AI-generated content may be incorrect.">
            <a:extLst>
              <a:ext uri="{FF2B5EF4-FFF2-40B4-BE49-F238E27FC236}">
                <a16:creationId xmlns:a16="http://schemas.microsoft.com/office/drawing/2014/main" id="{D7850F4C-1A5A-6CA6-0C87-286920F0BD02}"/>
              </a:ext>
            </a:extLst>
          </p:cNvPr>
          <p:cNvPicPr>
            <a:picLocks noChangeAspect="1"/>
          </p:cNvPicPr>
          <p:nvPr/>
        </p:nvPicPr>
        <p:blipFill>
          <a:blip r:embed="rId2"/>
          <a:srcRect l="8284" r="20156"/>
          <a:stretch>
            <a:fillRect/>
          </a:stretch>
        </p:blipFill>
        <p:spPr>
          <a:xfrm>
            <a:off x="6172200" y="2849526"/>
            <a:ext cx="5105400" cy="3210480"/>
          </a:xfrm>
          <a:prstGeom prst="rect">
            <a:avLst/>
          </a:prstGeom>
          <a:noFill/>
        </p:spPr>
      </p:pic>
      <p:sp>
        <p:nvSpPr>
          <p:cNvPr id="9" name="Date Placeholder 4">
            <a:extLst>
              <a:ext uri="{FF2B5EF4-FFF2-40B4-BE49-F238E27FC236}">
                <a16:creationId xmlns:a16="http://schemas.microsoft.com/office/drawing/2014/main" id="{68CC82D4-3BA6-B2CD-F042-ECFF87FE0771}"/>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A26D7B41-7A1D-2C2A-B5C7-41DF832212C4}"/>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C9A0368C-E4D6-B6AC-E95E-B60D433DDF66}"/>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15</a:t>
            </a:fld>
            <a:endParaRPr lang="en-US"/>
          </a:p>
        </p:txBody>
      </p:sp>
    </p:spTree>
    <p:extLst>
      <p:ext uri="{BB962C8B-B14F-4D97-AF65-F5344CB8AC3E}">
        <p14:creationId xmlns:p14="http://schemas.microsoft.com/office/powerpoint/2010/main" val="15449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B7954-6D35-085E-0B1E-412AD0DC3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618E0-B837-2C08-CC25-9226D975BC3B}"/>
              </a:ext>
            </a:extLst>
          </p:cNvPr>
          <p:cNvSpPr>
            <a:spLocks noGrp="1"/>
          </p:cNvSpPr>
          <p:nvPr>
            <p:ph type="title"/>
          </p:nvPr>
        </p:nvSpPr>
        <p:spPr>
          <a:xfrm>
            <a:off x="912628" y="1463038"/>
            <a:ext cx="3859397" cy="1471548"/>
          </a:xfrm>
        </p:spPr>
        <p:txBody>
          <a:bodyPr anchor="t">
            <a:normAutofit fontScale="90000"/>
          </a:bodyPr>
          <a:lstStyle/>
          <a:p>
            <a:r>
              <a:rPr lang="en-US"/>
              <a:t>Initial Sim Results-Reflection Coefficient </a:t>
            </a:r>
          </a:p>
        </p:txBody>
      </p:sp>
      <p:pic>
        <p:nvPicPr>
          <p:cNvPr id="4" name="Picture 3" descr="A graph of a function&#10;&#10;AI-generated content may be incorrect.">
            <a:extLst>
              <a:ext uri="{FF2B5EF4-FFF2-40B4-BE49-F238E27FC236}">
                <a16:creationId xmlns:a16="http://schemas.microsoft.com/office/drawing/2014/main" id="{9C029DB8-4860-991D-D17D-33D1A4AB1F07}"/>
              </a:ext>
            </a:extLst>
          </p:cNvPr>
          <p:cNvPicPr>
            <a:picLocks noChangeAspect="1"/>
          </p:cNvPicPr>
          <p:nvPr/>
        </p:nvPicPr>
        <p:blipFill>
          <a:blip r:embed="rId2"/>
          <a:srcRect l="2967" r="151" b="1"/>
          <a:stretch>
            <a:fillRect/>
          </a:stretch>
        </p:blipFill>
        <p:spPr>
          <a:xfrm>
            <a:off x="5183188" y="987425"/>
            <a:ext cx="6172200" cy="4873625"/>
          </a:xfrm>
          <a:prstGeom prst="rect">
            <a:avLst/>
          </a:prstGeom>
          <a:noFill/>
        </p:spPr>
      </p:pic>
      <p:sp>
        <p:nvSpPr>
          <p:cNvPr id="3" name="Content Placeholder 2">
            <a:extLst>
              <a:ext uri="{FF2B5EF4-FFF2-40B4-BE49-F238E27FC236}">
                <a16:creationId xmlns:a16="http://schemas.microsoft.com/office/drawing/2014/main" id="{148B536C-3F54-0170-2272-5A8781A48CFD}"/>
              </a:ext>
            </a:extLst>
          </p:cNvPr>
          <p:cNvSpPr>
            <a:spLocks noGrp="1"/>
          </p:cNvSpPr>
          <p:nvPr>
            <p:ph type="body" sz="half" idx="2"/>
          </p:nvPr>
        </p:nvSpPr>
        <p:spPr>
          <a:xfrm>
            <a:off x="912628" y="2934586"/>
            <a:ext cx="3859397" cy="2934401"/>
          </a:xfrm>
        </p:spPr>
        <p:txBody>
          <a:bodyPr vert="horz" lIns="91440" tIns="45720" rIns="91440" bIns="45720" rtlCol="0">
            <a:normAutofit/>
          </a:bodyPr>
          <a:lstStyle/>
          <a:p>
            <a:r>
              <a:rPr lang="en-US"/>
              <a:t>Matching was quite bad</a:t>
            </a:r>
          </a:p>
          <a:p>
            <a:r>
              <a:rPr lang="en-US"/>
              <a:t>Tried for many combinations of L1/L2</a:t>
            </a:r>
          </a:p>
          <a:p>
            <a:r>
              <a:rPr lang="en-US"/>
              <a:t>Tried different feed distancing</a:t>
            </a:r>
          </a:p>
          <a:p>
            <a:r>
              <a:rPr lang="en-US"/>
              <a:t>Still a very bad design</a:t>
            </a:r>
          </a:p>
          <a:p>
            <a:endParaRPr lang="en-US"/>
          </a:p>
        </p:txBody>
      </p:sp>
      <p:sp>
        <p:nvSpPr>
          <p:cNvPr id="9" name="Date Placeholder 4">
            <a:extLst>
              <a:ext uri="{FF2B5EF4-FFF2-40B4-BE49-F238E27FC236}">
                <a16:creationId xmlns:a16="http://schemas.microsoft.com/office/drawing/2014/main" id="{A87A3BBF-4EB3-B662-AE45-137948E0F9C1}"/>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0ABD7852-985A-77AB-1C22-D8AF76A0D29F}"/>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58A01CA3-6D2F-254A-B14B-3DFB344985B4}"/>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16</a:t>
            </a:fld>
            <a:endParaRPr lang="en-US"/>
          </a:p>
        </p:txBody>
      </p:sp>
    </p:spTree>
    <p:extLst>
      <p:ext uri="{BB962C8B-B14F-4D97-AF65-F5344CB8AC3E}">
        <p14:creationId xmlns:p14="http://schemas.microsoft.com/office/powerpoint/2010/main" val="1942119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1E1D-BFFD-F800-8A51-1B1FBCF36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F2B57-CCA3-4151-27C3-B513FA40EC8C}"/>
              </a:ext>
            </a:extLst>
          </p:cNvPr>
          <p:cNvSpPr>
            <a:spLocks noGrp="1"/>
          </p:cNvSpPr>
          <p:nvPr>
            <p:ph type="title"/>
          </p:nvPr>
        </p:nvSpPr>
        <p:spPr>
          <a:xfrm>
            <a:off x="912628" y="1463038"/>
            <a:ext cx="3859397" cy="1471548"/>
          </a:xfrm>
        </p:spPr>
        <p:txBody>
          <a:bodyPr anchor="t">
            <a:normAutofit/>
          </a:bodyPr>
          <a:lstStyle/>
          <a:p>
            <a:r>
              <a:rPr lang="en-US"/>
              <a:t>Initial Sim Results-</a:t>
            </a:r>
            <a:br>
              <a:rPr lang="en-US"/>
            </a:br>
            <a:r>
              <a:rPr lang="en-US"/>
              <a:t>3D Gain Pattern </a:t>
            </a:r>
          </a:p>
        </p:txBody>
      </p:sp>
      <p:pic>
        <p:nvPicPr>
          <p:cNvPr id="5" name="Picture 4" descr="A screenshot of a computer&#10;&#10;AI-generated content may be incorrect.">
            <a:extLst>
              <a:ext uri="{FF2B5EF4-FFF2-40B4-BE49-F238E27FC236}">
                <a16:creationId xmlns:a16="http://schemas.microsoft.com/office/drawing/2014/main" id="{CB1FC243-D736-DC20-6EB9-A28344103CC6}"/>
              </a:ext>
            </a:extLst>
          </p:cNvPr>
          <p:cNvPicPr>
            <a:picLocks noChangeAspect="1"/>
          </p:cNvPicPr>
          <p:nvPr/>
        </p:nvPicPr>
        <p:blipFill>
          <a:blip r:embed="rId2"/>
          <a:srcRect r="3752" b="2"/>
          <a:stretch>
            <a:fillRect/>
          </a:stretch>
        </p:blipFill>
        <p:spPr>
          <a:xfrm>
            <a:off x="5183188" y="987425"/>
            <a:ext cx="6172200" cy="4873625"/>
          </a:xfrm>
          <a:prstGeom prst="rect">
            <a:avLst/>
          </a:prstGeom>
          <a:noFill/>
        </p:spPr>
      </p:pic>
      <p:sp>
        <p:nvSpPr>
          <p:cNvPr id="3" name="Content Placeholder 2">
            <a:extLst>
              <a:ext uri="{FF2B5EF4-FFF2-40B4-BE49-F238E27FC236}">
                <a16:creationId xmlns:a16="http://schemas.microsoft.com/office/drawing/2014/main" id="{C4842CA1-5E5C-5D1D-3B44-9338BF403772}"/>
              </a:ext>
            </a:extLst>
          </p:cNvPr>
          <p:cNvSpPr>
            <a:spLocks noGrp="1"/>
          </p:cNvSpPr>
          <p:nvPr>
            <p:ph type="body" sz="half" idx="2"/>
          </p:nvPr>
        </p:nvSpPr>
        <p:spPr>
          <a:xfrm>
            <a:off x="912628" y="2934586"/>
            <a:ext cx="3859397" cy="2934401"/>
          </a:xfrm>
        </p:spPr>
        <p:txBody>
          <a:bodyPr vert="horz" lIns="91440" tIns="45720" rIns="91440" bIns="45720" rtlCol="0" anchor="t">
            <a:normAutofit/>
          </a:bodyPr>
          <a:lstStyle/>
          <a:p>
            <a:pPr marL="285750" indent="-285750">
              <a:buChar char="•"/>
            </a:pPr>
            <a:r>
              <a:rPr lang="en-US"/>
              <a:t>Pattern was very directive when should be approximately isotropic</a:t>
            </a:r>
          </a:p>
          <a:p>
            <a:pPr marL="285750" indent="-285750">
              <a:buChar char="•"/>
            </a:pPr>
            <a:r>
              <a:rPr lang="en-US"/>
              <a:t>Gain was low even at maximum and quite low outside of the peak.</a:t>
            </a:r>
          </a:p>
          <a:p>
            <a:endParaRPr lang="en-US"/>
          </a:p>
        </p:txBody>
      </p:sp>
      <p:sp>
        <p:nvSpPr>
          <p:cNvPr id="9" name="Date Placeholder 4">
            <a:extLst>
              <a:ext uri="{FF2B5EF4-FFF2-40B4-BE49-F238E27FC236}">
                <a16:creationId xmlns:a16="http://schemas.microsoft.com/office/drawing/2014/main" id="{AFC4990B-635E-B954-2632-EEFE9E7F091A}"/>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B6EA6F9F-5094-5621-13BC-AE4815E62991}"/>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9340EC78-E40A-EAE2-1B7D-46AC4333B4D2}"/>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17</a:t>
            </a:fld>
            <a:endParaRPr lang="en-US"/>
          </a:p>
        </p:txBody>
      </p:sp>
    </p:spTree>
    <p:extLst>
      <p:ext uri="{BB962C8B-B14F-4D97-AF65-F5344CB8AC3E}">
        <p14:creationId xmlns:p14="http://schemas.microsoft.com/office/powerpoint/2010/main" val="3371561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68571-DE8B-49AE-A0F6-87C614E08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BC081-F889-7F8C-20B0-B84000744B3D}"/>
              </a:ext>
            </a:extLst>
          </p:cNvPr>
          <p:cNvSpPr>
            <a:spLocks noGrp="1"/>
          </p:cNvSpPr>
          <p:nvPr>
            <p:ph type="title"/>
          </p:nvPr>
        </p:nvSpPr>
        <p:spPr>
          <a:xfrm>
            <a:off x="914400" y="1371601"/>
            <a:ext cx="10363200" cy="1187570"/>
          </a:xfrm>
        </p:spPr>
        <p:txBody>
          <a:bodyPr anchor="t">
            <a:normAutofit/>
          </a:bodyPr>
          <a:lstStyle/>
          <a:p>
            <a:r>
              <a:rPr lang="en-US"/>
              <a:t>Second Design</a:t>
            </a:r>
          </a:p>
        </p:txBody>
      </p:sp>
      <p:sp>
        <p:nvSpPr>
          <p:cNvPr id="3" name="Content Placeholder 2">
            <a:extLst>
              <a:ext uri="{FF2B5EF4-FFF2-40B4-BE49-F238E27FC236}">
                <a16:creationId xmlns:a16="http://schemas.microsoft.com/office/drawing/2014/main" id="{86DBD555-74C2-0B6F-B8A1-DE16DE28A6B0}"/>
              </a:ext>
            </a:extLst>
          </p:cNvPr>
          <p:cNvSpPr>
            <a:spLocks noGrp="1"/>
          </p:cNvSpPr>
          <p:nvPr>
            <p:ph sz="half" idx="1"/>
          </p:nvPr>
        </p:nvSpPr>
        <p:spPr>
          <a:xfrm>
            <a:off x="914400" y="2849526"/>
            <a:ext cx="5105400" cy="3210479"/>
          </a:xfrm>
        </p:spPr>
        <p:txBody>
          <a:bodyPr vert="horz" lIns="91440" tIns="45720" rIns="91440" bIns="45720" rtlCol="0" anchor="t">
            <a:normAutofit/>
          </a:bodyPr>
          <a:lstStyle/>
          <a:p>
            <a:r>
              <a:rPr lang="en-US"/>
              <a:t>Finite(but large) PEC ground plane​</a:t>
            </a:r>
            <a:endParaRPr lang="en-US" err="1"/>
          </a:p>
          <a:p>
            <a:r>
              <a:rPr lang="en-US"/>
              <a:t>Matched L2 and W</a:t>
            </a:r>
          </a:p>
          <a:p>
            <a:r>
              <a:rPr lang="en-US"/>
              <a:t>Fed by W width strip with wire, centered along the antenna</a:t>
            </a:r>
          </a:p>
          <a:p>
            <a:r>
              <a:rPr lang="en-US"/>
              <a:t>Starting point for design was L1 + h = </a:t>
            </a:r>
            <a:r>
              <a:rPr lang="en-US" sz="1900"/>
              <a:t>λ/4</a:t>
            </a:r>
            <a:endParaRPr lang="en-US"/>
          </a:p>
          <a:p>
            <a:endParaRPr lang="en-US"/>
          </a:p>
        </p:txBody>
      </p:sp>
      <p:sp>
        <p:nvSpPr>
          <p:cNvPr id="9" name="Date Placeholder 4">
            <a:extLst>
              <a:ext uri="{FF2B5EF4-FFF2-40B4-BE49-F238E27FC236}">
                <a16:creationId xmlns:a16="http://schemas.microsoft.com/office/drawing/2014/main" id="{16C42F98-C883-B223-8AF4-4CCEC988B1FC}"/>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C2A66B7F-3AF2-AAE8-C530-061F22A063B6}"/>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B2C7A1F5-0C62-287A-9994-634F6387386F}"/>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18</a:t>
            </a:fld>
            <a:endParaRPr lang="en-US"/>
          </a:p>
        </p:txBody>
      </p:sp>
      <p:pic>
        <p:nvPicPr>
          <p:cNvPr id="4" name="Picture 3" descr="A drawing of a beam&#10;&#10;AI-generated content may be incorrect.">
            <a:extLst>
              <a:ext uri="{FF2B5EF4-FFF2-40B4-BE49-F238E27FC236}">
                <a16:creationId xmlns:a16="http://schemas.microsoft.com/office/drawing/2014/main" id="{5BB3E11E-BF51-9A99-FF76-0ACF5615BB43}"/>
              </a:ext>
            </a:extLst>
          </p:cNvPr>
          <p:cNvPicPr>
            <a:picLocks noChangeAspect="1"/>
          </p:cNvPicPr>
          <p:nvPr/>
        </p:nvPicPr>
        <p:blipFill>
          <a:blip r:embed="rId2"/>
          <a:srcRect l="14032" t="7872" r="9526" b="21456"/>
          <a:stretch>
            <a:fillRect/>
          </a:stretch>
        </p:blipFill>
        <p:spPr>
          <a:xfrm>
            <a:off x="6715476" y="3418416"/>
            <a:ext cx="4799170" cy="2637650"/>
          </a:xfrm>
          <a:prstGeom prst="rect">
            <a:avLst/>
          </a:prstGeom>
        </p:spPr>
      </p:pic>
      <p:pic>
        <p:nvPicPr>
          <p:cNvPr id="6" name="Picture 5">
            <a:extLst>
              <a:ext uri="{FF2B5EF4-FFF2-40B4-BE49-F238E27FC236}">
                <a16:creationId xmlns:a16="http://schemas.microsoft.com/office/drawing/2014/main" id="{9899D51C-5FB4-F740-AA9B-8138AC1CE666}"/>
              </a:ext>
            </a:extLst>
          </p:cNvPr>
          <p:cNvPicPr>
            <a:picLocks noChangeAspect="1"/>
          </p:cNvPicPr>
          <p:nvPr/>
        </p:nvPicPr>
        <p:blipFill>
          <a:blip r:embed="rId3"/>
          <a:srcRect l="11559" t="24805" r="12432" b="23100"/>
          <a:stretch>
            <a:fillRect/>
          </a:stretch>
        </p:blipFill>
        <p:spPr>
          <a:xfrm>
            <a:off x="6715803" y="455083"/>
            <a:ext cx="4786359" cy="2399198"/>
          </a:xfrm>
          <a:prstGeom prst="rect">
            <a:avLst/>
          </a:prstGeom>
        </p:spPr>
      </p:pic>
    </p:spTree>
    <p:extLst>
      <p:ext uri="{BB962C8B-B14F-4D97-AF65-F5344CB8AC3E}">
        <p14:creationId xmlns:p14="http://schemas.microsoft.com/office/powerpoint/2010/main" val="3135480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13A08-48B7-71C8-D21B-64259B1DF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161DB-6545-C254-8509-891086E0858D}"/>
              </a:ext>
            </a:extLst>
          </p:cNvPr>
          <p:cNvSpPr>
            <a:spLocks noGrp="1"/>
          </p:cNvSpPr>
          <p:nvPr>
            <p:ph type="title"/>
          </p:nvPr>
        </p:nvSpPr>
        <p:spPr>
          <a:xfrm>
            <a:off x="912628" y="1463038"/>
            <a:ext cx="3859397" cy="1471548"/>
          </a:xfrm>
        </p:spPr>
        <p:txBody>
          <a:bodyPr anchor="t">
            <a:normAutofit/>
          </a:bodyPr>
          <a:lstStyle/>
          <a:p>
            <a:r>
              <a:rPr lang="en-US"/>
              <a:t>Final Sim Results -</a:t>
            </a:r>
            <a:br>
              <a:rPr lang="en-US"/>
            </a:br>
            <a:r>
              <a:rPr lang="en-US"/>
              <a:t>3D Gain Pattern</a:t>
            </a:r>
          </a:p>
        </p:txBody>
      </p:sp>
      <p:pic>
        <p:nvPicPr>
          <p:cNvPr id="4" name="Picture 3">
            <a:extLst>
              <a:ext uri="{FF2B5EF4-FFF2-40B4-BE49-F238E27FC236}">
                <a16:creationId xmlns:a16="http://schemas.microsoft.com/office/drawing/2014/main" id="{C2441FCF-335D-6AA0-744D-587E9B313B6D}"/>
              </a:ext>
            </a:extLst>
          </p:cNvPr>
          <p:cNvPicPr>
            <a:picLocks noChangeAspect="1"/>
          </p:cNvPicPr>
          <p:nvPr/>
        </p:nvPicPr>
        <p:blipFill>
          <a:blip r:embed="rId2"/>
          <a:srcRect r="4069" b="3"/>
          <a:stretch>
            <a:fillRect/>
          </a:stretch>
        </p:blipFill>
        <p:spPr>
          <a:xfrm>
            <a:off x="5183188" y="987425"/>
            <a:ext cx="6172200" cy="4873625"/>
          </a:xfrm>
          <a:prstGeom prst="rect">
            <a:avLst/>
          </a:prstGeom>
          <a:noFill/>
        </p:spPr>
      </p:pic>
      <p:sp>
        <p:nvSpPr>
          <p:cNvPr id="3" name="Content Placeholder 2">
            <a:extLst>
              <a:ext uri="{FF2B5EF4-FFF2-40B4-BE49-F238E27FC236}">
                <a16:creationId xmlns:a16="http://schemas.microsoft.com/office/drawing/2014/main" id="{EF922D01-53E9-B3A8-956F-FEB73902841F}"/>
              </a:ext>
            </a:extLst>
          </p:cNvPr>
          <p:cNvSpPr>
            <a:spLocks noGrp="1"/>
          </p:cNvSpPr>
          <p:nvPr>
            <p:ph type="body" sz="half" idx="2"/>
          </p:nvPr>
        </p:nvSpPr>
        <p:spPr>
          <a:xfrm>
            <a:off x="912628" y="2934586"/>
            <a:ext cx="3859397" cy="2934401"/>
          </a:xfrm>
        </p:spPr>
        <p:txBody>
          <a:bodyPr vert="horz" lIns="91440" tIns="45720" rIns="91440" bIns="45720" rtlCol="0" anchor="t">
            <a:normAutofit/>
          </a:bodyPr>
          <a:lstStyle/>
          <a:p>
            <a:pPr marL="285750" indent="-285750">
              <a:buChar char="•"/>
            </a:pPr>
            <a:r>
              <a:rPr lang="en-US"/>
              <a:t>Pattern is quite isotropic, especially in the directions we care about for this application.</a:t>
            </a:r>
          </a:p>
          <a:p>
            <a:pPr marL="285750" indent="-285750">
              <a:buChar char="•"/>
            </a:pPr>
            <a:r>
              <a:rPr lang="en-US"/>
              <a:t>Much lower gain towards chest, which is desirable both for safety and performance.</a:t>
            </a:r>
          </a:p>
          <a:p>
            <a:endParaRPr lang="en-US"/>
          </a:p>
        </p:txBody>
      </p:sp>
      <p:sp>
        <p:nvSpPr>
          <p:cNvPr id="9" name="Date Placeholder 4">
            <a:extLst>
              <a:ext uri="{FF2B5EF4-FFF2-40B4-BE49-F238E27FC236}">
                <a16:creationId xmlns:a16="http://schemas.microsoft.com/office/drawing/2014/main" id="{DA446D49-15F7-D8A1-F5FE-9071565A4C65}"/>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4D80B849-291F-F0D1-D378-FD8ADE2D1978}"/>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B0F51B97-77FF-B096-40B5-F73696FFD29C}"/>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19</a:t>
            </a:fld>
            <a:endParaRPr lang="en-US"/>
          </a:p>
        </p:txBody>
      </p:sp>
    </p:spTree>
    <p:extLst>
      <p:ext uri="{BB962C8B-B14F-4D97-AF65-F5344CB8AC3E}">
        <p14:creationId xmlns:p14="http://schemas.microsoft.com/office/powerpoint/2010/main" val="1831540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76664-A097-B8A3-D520-92458ACF7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23B26-7FF2-C998-DBFA-23CDD465B300}"/>
              </a:ext>
            </a:extLst>
          </p:cNvPr>
          <p:cNvSpPr>
            <a:spLocks noGrp="1"/>
          </p:cNvSpPr>
          <p:nvPr>
            <p:ph type="title"/>
          </p:nvPr>
        </p:nvSpPr>
        <p:spPr>
          <a:xfrm>
            <a:off x="912628" y="1463038"/>
            <a:ext cx="3859397" cy="1471548"/>
          </a:xfrm>
        </p:spPr>
        <p:txBody>
          <a:bodyPr anchor="t">
            <a:normAutofit/>
          </a:bodyPr>
          <a:lstStyle/>
          <a:p>
            <a:pPr>
              <a:lnSpc>
                <a:spcPct val="90000"/>
              </a:lnSpc>
            </a:pPr>
            <a:r>
              <a:rPr lang="en-US"/>
              <a:t>Final Sim Results -</a:t>
            </a:r>
            <a:br>
              <a:rPr lang="en-US"/>
            </a:br>
            <a:r>
              <a:rPr lang="en-US"/>
              <a:t>3D Gain Pattern, Underside</a:t>
            </a:r>
          </a:p>
        </p:txBody>
      </p:sp>
      <p:pic>
        <p:nvPicPr>
          <p:cNvPr id="5" name="Picture 4" descr="A colorful sphere with black lines&#10;&#10;AI-generated content may be incorrect.">
            <a:extLst>
              <a:ext uri="{FF2B5EF4-FFF2-40B4-BE49-F238E27FC236}">
                <a16:creationId xmlns:a16="http://schemas.microsoft.com/office/drawing/2014/main" id="{08001C3F-83C4-A049-26BF-A30469818CDE}"/>
              </a:ext>
            </a:extLst>
          </p:cNvPr>
          <p:cNvPicPr>
            <a:picLocks noChangeAspect="1"/>
          </p:cNvPicPr>
          <p:nvPr/>
        </p:nvPicPr>
        <p:blipFill>
          <a:blip r:embed="rId2"/>
          <a:srcRect r="4069" b="3"/>
          <a:stretch>
            <a:fillRect/>
          </a:stretch>
        </p:blipFill>
        <p:spPr>
          <a:xfrm>
            <a:off x="5183188" y="987425"/>
            <a:ext cx="6172200" cy="4873625"/>
          </a:xfrm>
          <a:prstGeom prst="rect">
            <a:avLst/>
          </a:prstGeom>
          <a:noFill/>
        </p:spPr>
      </p:pic>
      <p:sp>
        <p:nvSpPr>
          <p:cNvPr id="3" name="Content Placeholder 2">
            <a:extLst>
              <a:ext uri="{FF2B5EF4-FFF2-40B4-BE49-F238E27FC236}">
                <a16:creationId xmlns:a16="http://schemas.microsoft.com/office/drawing/2014/main" id="{406ADC93-2E62-465E-5D8C-34AAE45A833C}"/>
              </a:ext>
            </a:extLst>
          </p:cNvPr>
          <p:cNvSpPr>
            <a:spLocks noGrp="1"/>
          </p:cNvSpPr>
          <p:nvPr>
            <p:ph type="body" sz="half" idx="2"/>
          </p:nvPr>
        </p:nvSpPr>
        <p:spPr>
          <a:xfrm>
            <a:off x="912628" y="2934586"/>
            <a:ext cx="3859397" cy="2934401"/>
          </a:xfrm>
        </p:spPr>
        <p:txBody>
          <a:bodyPr vert="horz" lIns="91440" tIns="45720" rIns="91440" bIns="45720" rtlCol="0" anchor="t">
            <a:normAutofit/>
          </a:bodyPr>
          <a:lstStyle/>
          <a:p>
            <a:pPr marL="285750" indent="-285750">
              <a:buChar char="•"/>
            </a:pPr>
            <a:r>
              <a:rPr lang="en-US"/>
              <a:t>Pattern is quite isotropic, especially in the directions we care about for this application.</a:t>
            </a:r>
          </a:p>
          <a:p>
            <a:pPr marL="285750" indent="-285750">
              <a:buChar char="•"/>
            </a:pPr>
            <a:r>
              <a:rPr lang="en-US" dirty="0"/>
              <a:t>Much lower gain towards chest, which is desirable both for safety and </a:t>
            </a:r>
            <a:r>
              <a:rPr lang="en-US"/>
              <a:t>performance</a:t>
            </a:r>
            <a:endParaRPr lang="en-US" dirty="0"/>
          </a:p>
          <a:p>
            <a:endParaRPr lang="en-US"/>
          </a:p>
        </p:txBody>
      </p:sp>
      <p:sp>
        <p:nvSpPr>
          <p:cNvPr id="9" name="Date Placeholder 4">
            <a:extLst>
              <a:ext uri="{FF2B5EF4-FFF2-40B4-BE49-F238E27FC236}">
                <a16:creationId xmlns:a16="http://schemas.microsoft.com/office/drawing/2014/main" id="{F8FA6155-CB88-078C-248F-B01605AFBD89}"/>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3268F4EF-4CEA-D374-77B0-EBF51B62293F}"/>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220DA64B-EBB9-EB53-7809-5C2CD5599664}"/>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20</a:t>
            </a:fld>
            <a:endParaRPr lang="en-US"/>
          </a:p>
        </p:txBody>
      </p:sp>
    </p:spTree>
    <p:extLst>
      <p:ext uri="{BB962C8B-B14F-4D97-AF65-F5344CB8AC3E}">
        <p14:creationId xmlns:p14="http://schemas.microsoft.com/office/powerpoint/2010/main" val="4101244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3BDE3-1AE3-C544-8493-03C4712BF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27A3D-9165-FF30-823B-81DD5B2CC45D}"/>
              </a:ext>
            </a:extLst>
          </p:cNvPr>
          <p:cNvSpPr>
            <a:spLocks noGrp="1"/>
          </p:cNvSpPr>
          <p:nvPr>
            <p:ph type="title"/>
          </p:nvPr>
        </p:nvSpPr>
        <p:spPr>
          <a:xfrm>
            <a:off x="912628" y="1463038"/>
            <a:ext cx="3859397" cy="1471548"/>
          </a:xfrm>
        </p:spPr>
        <p:txBody>
          <a:bodyPr anchor="t">
            <a:normAutofit/>
          </a:bodyPr>
          <a:lstStyle/>
          <a:p>
            <a:pPr>
              <a:lnSpc>
                <a:spcPct val="90000"/>
              </a:lnSpc>
            </a:pPr>
            <a:r>
              <a:rPr lang="en-US"/>
              <a:t>Final Sim Results -</a:t>
            </a:r>
            <a:br>
              <a:rPr lang="en-US"/>
            </a:br>
            <a:r>
              <a:rPr lang="en-US"/>
              <a:t>Reflection Coefficient​</a:t>
            </a:r>
          </a:p>
        </p:txBody>
      </p:sp>
      <p:sp>
        <p:nvSpPr>
          <p:cNvPr id="3" name="Content Placeholder 2">
            <a:extLst>
              <a:ext uri="{FF2B5EF4-FFF2-40B4-BE49-F238E27FC236}">
                <a16:creationId xmlns:a16="http://schemas.microsoft.com/office/drawing/2014/main" id="{02E22A13-2964-7858-2A15-1FB607BEF2B9}"/>
              </a:ext>
            </a:extLst>
          </p:cNvPr>
          <p:cNvSpPr>
            <a:spLocks noGrp="1"/>
          </p:cNvSpPr>
          <p:nvPr>
            <p:ph type="body" sz="half" idx="2"/>
          </p:nvPr>
        </p:nvSpPr>
        <p:spPr>
          <a:xfrm>
            <a:off x="912628" y="2934586"/>
            <a:ext cx="3859397" cy="2934401"/>
          </a:xfrm>
        </p:spPr>
        <p:txBody>
          <a:bodyPr vert="horz" lIns="91440" tIns="45720" rIns="91440" bIns="45720" rtlCol="0" anchor="t">
            <a:normAutofit/>
          </a:bodyPr>
          <a:lstStyle/>
          <a:p>
            <a:pPr marL="285750" indent="-285750">
              <a:buChar char="•"/>
            </a:pPr>
            <a:r>
              <a:rPr lang="en-US" dirty="0"/>
              <a:t>Resonant at our intended 2.4 GHz, but has enough –10 dB bandwidth to accommodate the 40* 2Mhz channels as well.</a:t>
            </a:r>
          </a:p>
          <a:p>
            <a:pPr marL="285750" indent="-285750">
              <a:buChar char="•"/>
            </a:pPr>
            <a:r>
              <a:rPr lang="en-US"/>
              <a:t>To move resonant frequency swept over L1 and h</a:t>
            </a:r>
          </a:p>
          <a:p>
            <a:pPr marL="285750" indent="-285750">
              <a:buChar char="•"/>
            </a:pPr>
            <a:r>
              <a:rPr lang="en-US"/>
              <a:t>To improve matching ran many sweeps over D and "gap"</a:t>
            </a:r>
          </a:p>
          <a:p>
            <a:endParaRPr lang="en-US"/>
          </a:p>
        </p:txBody>
      </p:sp>
      <p:sp>
        <p:nvSpPr>
          <p:cNvPr id="9" name="Date Placeholder 4">
            <a:extLst>
              <a:ext uri="{FF2B5EF4-FFF2-40B4-BE49-F238E27FC236}">
                <a16:creationId xmlns:a16="http://schemas.microsoft.com/office/drawing/2014/main" id="{8AD6538E-CCBF-1173-F7AE-FE0A66320F6F}"/>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8AB6BE20-0BF5-4C62-C5C0-66FF570F2702}"/>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5B36203F-E608-6AE6-2F03-3175AB672BD6}"/>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21</a:t>
            </a:fld>
            <a:endParaRPr lang="en-US"/>
          </a:p>
        </p:txBody>
      </p:sp>
      <p:pic>
        <p:nvPicPr>
          <p:cNvPr id="4" name="Picture 3" descr="A graph of excitation&#10;&#10;AI-generated content may be incorrect.">
            <a:extLst>
              <a:ext uri="{FF2B5EF4-FFF2-40B4-BE49-F238E27FC236}">
                <a16:creationId xmlns:a16="http://schemas.microsoft.com/office/drawing/2014/main" id="{010CB086-1DAB-31B9-644C-5DF6533DAF0B}"/>
              </a:ext>
            </a:extLst>
          </p:cNvPr>
          <p:cNvPicPr>
            <a:picLocks noChangeAspect="1"/>
          </p:cNvPicPr>
          <p:nvPr/>
        </p:nvPicPr>
        <p:blipFill>
          <a:blip r:embed="rId2"/>
          <a:stretch>
            <a:fillRect/>
          </a:stretch>
        </p:blipFill>
        <p:spPr>
          <a:xfrm>
            <a:off x="5666303" y="1083733"/>
            <a:ext cx="6244195" cy="4690534"/>
          </a:xfrm>
          <a:prstGeom prst="rect">
            <a:avLst/>
          </a:prstGeom>
        </p:spPr>
      </p:pic>
    </p:spTree>
    <p:extLst>
      <p:ext uri="{BB962C8B-B14F-4D97-AF65-F5344CB8AC3E}">
        <p14:creationId xmlns:p14="http://schemas.microsoft.com/office/powerpoint/2010/main" val="482242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8C002-CDCD-5E36-0BD0-D68C65544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50AA68-A8ED-A1A1-3BAC-9FC69CBF372B}"/>
              </a:ext>
            </a:extLst>
          </p:cNvPr>
          <p:cNvSpPr>
            <a:spLocks noGrp="1"/>
          </p:cNvSpPr>
          <p:nvPr>
            <p:ph type="title"/>
          </p:nvPr>
        </p:nvSpPr>
        <p:spPr>
          <a:xfrm>
            <a:off x="914400" y="1371601"/>
            <a:ext cx="10363200" cy="1187570"/>
          </a:xfrm>
        </p:spPr>
        <p:txBody>
          <a:bodyPr anchor="t">
            <a:normAutofit/>
          </a:bodyPr>
          <a:lstStyle/>
          <a:p>
            <a:r>
              <a:rPr lang="en-US"/>
              <a:t>Final Values</a:t>
            </a:r>
          </a:p>
        </p:txBody>
      </p:sp>
      <p:sp>
        <p:nvSpPr>
          <p:cNvPr id="3" name="Content Placeholder 2">
            <a:extLst>
              <a:ext uri="{FF2B5EF4-FFF2-40B4-BE49-F238E27FC236}">
                <a16:creationId xmlns:a16="http://schemas.microsoft.com/office/drawing/2014/main" id="{8A04C2F8-8015-A68B-E3D7-7FAB79C7D23B}"/>
              </a:ext>
            </a:extLst>
          </p:cNvPr>
          <p:cNvSpPr>
            <a:spLocks noGrp="1"/>
          </p:cNvSpPr>
          <p:nvPr>
            <p:ph sz="half" idx="1"/>
          </p:nvPr>
        </p:nvSpPr>
        <p:spPr>
          <a:xfrm>
            <a:off x="914400" y="2849526"/>
            <a:ext cx="5105400" cy="3210479"/>
          </a:xfrm>
        </p:spPr>
        <p:txBody>
          <a:bodyPr vert="horz" lIns="91440" tIns="45720" rIns="91440" bIns="45720" rtlCol="0" anchor="t">
            <a:normAutofit/>
          </a:bodyPr>
          <a:lstStyle/>
          <a:p>
            <a:r>
              <a:rPr lang="en-US"/>
              <a:t>L1 = 30e-3​</a:t>
            </a:r>
            <a:endParaRPr lang="en-US" err="1"/>
          </a:p>
          <a:p>
            <a:r>
              <a:rPr lang="en-US"/>
              <a:t>L2 = W = 5e-3</a:t>
            </a:r>
          </a:p>
          <a:p>
            <a:r>
              <a:rPr lang="en-US"/>
              <a:t>D = 10e-3</a:t>
            </a:r>
          </a:p>
          <a:p>
            <a:r>
              <a:rPr lang="en-US"/>
              <a:t>H = 10e-3</a:t>
            </a:r>
          </a:p>
          <a:p>
            <a:r>
              <a:rPr lang="en-US"/>
              <a:t>"Gap" = 7e-3</a:t>
            </a:r>
          </a:p>
          <a:p>
            <a:endParaRPr lang="en-US"/>
          </a:p>
        </p:txBody>
      </p:sp>
      <p:sp>
        <p:nvSpPr>
          <p:cNvPr id="9" name="Date Placeholder 4">
            <a:extLst>
              <a:ext uri="{FF2B5EF4-FFF2-40B4-BE49-F238E27FC236}">
                <a16:creationId xmlns:a16="http://schemas.microsoft.com/office/drawing/2014/main" id="{ACDB15F3-9249-65DE-BEEF-9220A6198422}"/>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716B7E83-1740-67FB-BEEF-6373B6FD25F9}"/>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9760B697-4F4A-DDEC-BEBF-334236F2F628}"/>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22</a:t>
            </a:fld>
            <a:endParaRPr lang="en-US"/>
          </a:p>
        </p:txBody>
      </p:sp>
      <p:pic>
        <p:nvPicPr>
          <p:cNvPr id="4" name="Picture 3" descr="A drawing of a beam&#10;&#10;AI-generated content may be incorrect.">
            <a:extLst>
              <a:ext uri="{FF2B5EF4-FFF2-40B4-BE49-F238E27FC236}">
                <a16:creationId xmlns:a16="http://schemas.microsoft.com/office/drawing/2014/main" id="{1E420C74-B150-92BE-B339-E7643DA008B7}"/>
              </a:ext>
            </a:extLst>
          </p:cNvPr>
          <p:cNvPicPr>
            <a:picLocks noChangeAspect="1"/>
          </p:cNvPicPr>
          <p:nvPr/>
        </p:nvPicPr>
        <p:blipFill>
          <a:blip r:embed="rId2"/>
          <a:srcRect l="14032" t="7872" r="9526" b="21456"/>
          <a:stretch>
            <a:fillRect/>
          </a:stretch>
        </p:blipFill>
        <p:spPr>
          <a:xfrm>
            <a:off x="6715476" y="3418416"/>
            <a:ext cx="4799170" cy="2637650"/>
          </a:xfrm>
          <a:prstGeom prst="rect">
            <a:avLst/>
          </a:prstGeom>
        </p:spPr>
      </p:pic>
      <p:pic>
        <p:nvPicPr>
          <p:cNvPr id="6" name="Picture 5">
            <a:extLst>
              <a:ext uri="{FF2B5EF4-FFF2-40B4-BE49-F238E27FC236}">
                <a16:creationId xmlns:a16="http://schemas.microsoft.com/office/drawing/2014/main" id="{95383111-F3A3-45EE-6FE9-D463D7ACA1A6}"/>
              </a:ext>
            </a:extLst>
          </p:cNvPr>
          <p:cNvPicPr>
            <a:picLocks noChangeAspect="1"/>
          </p:cNvPicPr>
          <p:nvPr/>
        </p:nvPicPr>
        <p:blipFill>
          <a:blip r:embed="rId3"/>
          <a:srcRect l="11559" t="24805" r="12432" b="23100"/>
          <a:stretch>
            <a:fillRect/>
          </a:stretch>
        </p:blipFill>
        <p:spPr>
          <a:xfrm>
            <a:off x="6715803" y="455083"/>
            <a:ext cx="4786359" cy="2399198"/>
          </a:xfrm>
          <a:prstGeom prst="rect">
            <a:avLst/>
          </a:prstGeom>
        </p:spPr>
      </p:pic>
    </p:spTree>
    <p:extLst>
      <p:ext uri="{BB962C8B-B14F-4D97-AF65-F5344CB8AC3E}">
        <p14:creationId xmlns:p14="http://schemas.microsoft.com/office/powerpoint/2010/main" val="1186071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DD52C-4CA6-F151-C1D8-DE0B753C5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BD20A-39E1-20B6-FC16-87F6E14120D1}"/>
              </a:ext>
            </a:extLst>
          </p:cNvPr>
          <p:cNvSpPr>
            <a:spLocks noGrp="1"/>
          </p:cNvSpPr>
          <p:nvPr>
            <p:ph type="title"/>
          </p:nvPr>
        </p:nvSpPr>
        <p:spPr>
          <a:xfrm>
            <a:off x="914400" y="1371601"/>
            <a:ext cx="10363200" cy="1187570"/>
          </a:xfrm>
        </p:spPr>
        <p:txBody>
          <a:bodyPr anchor="t">
            <a:normAutofit/>
          </a:bodyPr>
          <a:lstStyle/>
          <a:p>
            <a:r>
              <a:rPr lang="en-US"/>
              <a:t>Modeling Tissue</a:t>
            </a:r>
            <a:endParaRPr lang="en-US" dirty="0"/>
          </a:p>
        </p:txBody>
      </p:sp>
      <p:sp>
        <p:nvSpPr>
          <p:cNvPr id="3" name="Content Placeholder 2">
            <a:extLst>
              <a:ext uri="{FF2B5EF4-FFF2-40B4-BE49-F238E27FC236}">
                <a16:creationId xmlns:a16="http://schemas.microsoft.com/office/drawing/2014/main" id="{A0E83253-3CD2-1BDD-E125-D8D02AE69FF7}"/>
              </a:ext>
            </a:extLst>
          </p:cNvPr>
          <p:cNvSpPr>
            <a:spLocks noGrp="1"/>
          </p:cNvSpPr>
          <p:nvPr>
            <p:ph sz="half" idx="1"/>
          </p:nvPr>
        </p:nvSpPr>
        <p:spPr>
          <a:xfrm>
            <a:off x="914400" y="2849526"/>
            <a:ext cx="5105400" cy="3210479"/>
          </a:xfrm>
        </p:spPr>
        <p:txBody>
          <a:bodyPr vert="horz" lIns="91440" tIns="45720" rIns="91440" bIns="45720" rtlCol="0" anchor="t">
            <a:normAutofit/>
          </a:bodyPr>
          <a:lstStyle/>
          <a:p>
            <a:r>
              <a:rPr lang="en-US" dirty="0"/>
              <a:t>This antenna will be placed in close proximity to the body, so modeling its electric properties is important.</a:t>
            </a:r>
            <a:endParaRPr lang="en-US" dirty="0" err="1"/>
          </a:p>
          <a:p>
            <a:r>
              <a:rPr lang="en-US" dirty="0"/>
              <a:t>Theres a database of electric properties of various tissu</a:t>
            </a:r>
            <a:r>
              <a:rPr lang="en-US"/>
              <a:t>e, so I modeled the chest as a solid block of muscle at 2.4 GHz</a:t>
            </a:r>
            <a:endParaRPr lang="en-US" dirty="0"/>
          </a:p>
          <a:p>
            <a:endParaRPr lang="en-US"/>
          </a:p>
        </p:txBody>
      </p:sp>
      <p:sp>
        <p:nvSpPr>
          <p:cNvPr id="9" name="Date Placeholder 4">
            <a:extLst>
              <a:ext uri="{FF2B5EF4-FFF2-40B4-BE49-F238E27FC236}">
                <a16:creationId xmlns:a16="http://schemas.microsoft.com/office/drawing/2014/main" id="{44F3C502-D215-A10B-92B3-8D1D656D9EAF}"/>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74E69E43-974F-208B-7B5B-6EA57BFA2C60}"/>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3C11984E-70CF-85C0-B2AF-9D8F247AA16A}"/>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23</a:t>
            </a:fld>
            <a:endParaRPr lang="en-US"/>
          </a:p>
        </p:txBody>
      </p:sp>
      <p:pic>
        <p:nvPicPr>
          <p:cNvPr id="5" name="Picture 4" descr="A screenshot of a calculator&#10;&#10;AI-generated content may be incorrect.">
            <a:extLst>
              <a:ext uri="{FF2B5EF4-FFF2-40B4-BE49-F238E27FC236}">
                <a16:creationId xmlns:a16="http://schemas.microsoft.com/office/drawing/2014/main" id="{A4ACC686-B790-CF74-BC91-152783CCB880}"/>
              </a:ext>
            </a:extLst>
          </p:cNvPr>
          <p:cNvPicPr>
            <a:picLocks noChangeAspect="1"/>
          </p:cNvPicPr>
          <p:nvPr/>
        </p:nvPicPr>
        <p:blipFill>
          <a:blip r:embed="rId2"/>
          <a:stretch>
            <a:fillRect/>
          </a:stretch>
        </p:blipFill>
        <p:spPr>
          <a:xfrm>
            <a:off x="4673600" y="1005578"/>
            <a:ext cx="7518400" cy="1843998"/>
          </a:xfrm>
          <a:prstGeom prst="rect">
            <a:avLst/>
          </a:prstGeom>
        </p:spPr>
      </p:pic>
      <p:pic>
        <p:nvPicPr>
          <p:cNvPr id="7" name="Picture 6">
            <a:extLst>
              <a:ext uri="{FF2B5EF4-FFF2-40B4-BE49-F238E27FC236}">
                <a16:creationId xmlns:a16="http://schemas.microsoft.com/office/drawing/2014/main" id="{E6FDB8CA-F684-27F8-81C8-3AE0D810FEA1}"/>
              </a:ext>
            </a:extLst>
          </p:cNvPr>
          <p:cNvPicPr>
            <a:picLocks noChangeAspect="1"/>
          </p:cNvPicPr>
          <p:nvPr/>
        </p:nvPicPr>
        <p:blipFill>
          <a:blip r:embed="rId3"/>
          <a:stretch>
            <a:fillRect/>
          </a:stretch>
        </p:blipFill>
        <p:spPr>
          <a:xfrm>
            <a:off x="6548119" y="3025422"/>
            <a:ext cx="4982917" cy="3606800"/>
          </a:xfrm>
          <a:prstGeom prst="rect">
            <a:avLst/>
          </a:prstGeom>
        </p:spPr>
      </p:pic>
    </p:spTree>
    <p:extLst>
      <p:ext uri="{BB962C8B-B14F-4D97-AF65-F5344CB8AC3E}">
        <p14:creationId xmlns:p14="http://schemas.microsoft.com/office/powerpoint/2010/main" val="2323882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C9961-0204-2950-A28B-A3B364767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496F7-8AE5-823D-A380-A445CCC7A434}"/>
              </a:ext>
            </a:extLst>
          </p:cNvPr>
          <p:cNvSpPr>
            <a:spLocks noGrp="1"/>
          </p:cNvSpPr>
          <p:nvPr>
            <p:ph type="title"/>
          </p:nvPr>
        </p:nvSpPr>
        <p:spPr>
          <a:xfrm>
            <a:off x="912628" y="1463038"/>
            <a:ext cx="3859397" cy="1471548"/>
          </a:xfrm>
        </p:spPr>
        <p:txBody>
          <a:bodyPr anchor="t">
            <a:normAutofit/>
          </a:bodyPr>
          <a:lstStyle/>
          <a:p>
            <a:pPr>
              <a:lnSpc>
                <a:spcPct val="90000"/>
              </a:lnSpc>
            </a:pPr>
            <a:r>
              <a:rPr lang="en-US"/>
              <a:t>Muscle Sim Results -</a:t>
            </a:r>
            <a:br>
              <a:rPr lang="en-US" dirty="0"/>
            </a:br>
            <a:r>
              <a:rPr lang="en-US" dirty="0"/>
              <a:t>3D Gain Pattern</a:t>
            </a:r>
            <a:endParaRPr lang="en-US"/>
          </a:p>
        </p:txBody>
      </p:sp>
      <p:pic>
        <p:nvPicPr>
          <p:cNvPr id="5" name="Picture 4" descr="A red and green sphere&#10;&#10;AI-generated content may be incorrect.">
            <a:extLst>
              <a:ext uri="{FF2B5EF4-FFF2-40B4-BE49-F238E27FC236}">
                <a16:creationId xmlns:a16="http://schemas.microsoft.com/office/drawing/2014/main" id="{F5F60141-D154-0663-B2F8-F6628FB17C81}"/>
              </a:ext>
            </a:extLst>
          </p:cNvPr>
          <p:cNvPicPr>
            <a:picLocks noChangeAspect="1"/>
          </p:cNvPicPr>
          <p:nvPr/>
        </p:nvPicPr>
        <p:blipFill>
          <a:blip r:embed="rId2"/>
          <a:srcRect r="3752" b="2"/>
          <a:stretch>
            <a:fillRect/>
          </a:stretch>
        </p:blipFill>
        <p:spPr>
          <a:xfrm>
            <a:off x="5183188" y="987425"/>
            <a:ext cx="6172200" cy="4873625"/>
          </a:xfrm>
          <a:prstGeom prst="rect">
            <a:avLst/>
          </a:prstGeom>
          <a:noFill/>
        </p:spPr>
      </p:pic>
      <p:sp>
        <p:nvSpPr>
          <p:cNvPr id="3" name="Content Placeholder 2">
            <a:extLst>
              <a:ext uri="{FF2B5EF4-FFF2-40B4-BE49-F238E27FC236}">
                <a16:creationId xmlns:a16="http://schemas.microsoft.com/office/drawing/2014/main" id="{F337FE88-BE24-0C81-A4FA-88A0FC4EBF06}"/>
              </a:ext>
            </a:extLst>
          </p:cNvPr>
          <p:cNvSpPr>
            <a:spLocks noGrp="1"/>
          </p:cNvSpPr>
          <p:nvPr>
            <p:ph type="body" sz="half" idx="2"/>
          </p:nvPr>
        </p:nvSpPr>
        <p:spPr>
          <a:xfrm>
            <a:off x="912628" y="2934586"/>
            <a:ext cx="3859397" cy="2934401"/>
          </a:xfrm>
        </p:spPr>
        <p:txBody>
          <a:bodyPr vert="horz" lIns="91440" tIns="45720" rIns="91440" bIns="45720" rtlCol="0" anchor="t">
            <a:normAutofit/>
          </a:bodyPr>
          <a:lstStyle/>
          <a:p>
            <a:pPr marL="285750" indent="-285750">
              <a:buChar char="•"/>
            </a:pPr>
            <a:r>
              <a:rPr lang="en-US" dirty="0"/>
              <a:t>Pattern is still quite isotropic in </a:t>
            </a:r>
            <a:r>
              <a:rPr lang="en-US"/>
              <a:t>relevant directions</a:t>
            </a:r>
            <a:endParaRPr lang="en-US" dirty="0"/>
          </a:p>
          <a:p>
            <a:pPr marL="285750" indent="-285750">
              <a:buChar char="•"/>
            </a:pPr>
            <a:r>
              <a:rPr lang="en-US" dirty="0"/>
              <a:t>I would expect this dielectric to reduce performance so it is curious that it appears to not be.</a:t>
            </a:r>
          </a:p>
          <a:p>
            <a:endParaRPr lang="en-US"/>
          </a:p>
        </p:txBody>
      </p:sp>
      <p:sp>
        <p:nvSpPr>
          <p:cNvPr id="9" name="Date Placeholder 4">
            <a:extLst>
              <a:ext uri="{FF2B5EF4-FFF2-40B4-BE49-F238E27FC236}">
                <a16:creationId xmlns:a16="http://schemas.microsoft.com/office/drawing/2014/main" id="{2847F7B0-474C-74D0-964E-29ACE23FF474}"/>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60C7A628-559B-260E-C19D-50D7783A2BFC}"/>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572626C2-5609-115D-8D50-6680C7DA12FC}"/>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24</a:t>
            </a:fld>
            <a:endParaRPr lang="en-US"/>
          </a:p>
        </p:txBody>
      </p:sp>
    </p:spTree>
    <p:extLst>
      <p:ext uri="{BB962C8B-B14F-4D97-AF65-F5344CB8AC3E}">
        <p14:creationId xmlns:p14="http://schemas.microsoft.com/office/powerpoint/2010/main" val="1289582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85819-4970-D620-FFC5-E6B0962A8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89764-AC52-EA84-063B-D4779C207693}"/>
              </a:ext>
            </a:extLst>
          </p:cNvPr>
          <p:cNvSpPr>
            <a:spLocks noGrp="1"/>
          </p:cNvSpPr>
          <p:nvPr>
            <p:ph type="title"/>
          </p:nvPr>
        </p:nvSpPr>
        <p:spPr>
          <a:xfrm>
            <a:off x="914400" y="1371601"/>
            <a:ext cx="10363200" cy="1187570"/>
          </a:xfrm>
        </p:spPr>
        <p:txBody>
          <a:bodyPr anchor="t">
            <a:normAutofit/>
          </a:bodyPr>
          <a:lstStyle/>
          <a:p>
            <a:pPr>
              <a:lnSpc>
                <a:spcPct val="90000"/>
              </a:lnSpc>
            </a:pPr>
            <a:r>
              <a:rPr lang="en-US" sz="3700"/>
              <a:t>Muscle Sim Results -</a:t>
            </a:r>
            <a:br>
              <a:rPr lang="en-US" sz="3700"/>
            </a:br>
            <a:r>
              <a:rPr lang="en-US" sz="3700"/>
              <a:t>Reflection Coefficient</a:t>
            </a:r>
          </a:p>
        </p:txBody>
      </p:sp>
      <p:sp>
        <p:nvSpPr>
          <p:cNvPr id="3" name="Content Placeholder 2">
            <a:extLst>
              <a:ext uri="{FF2B5EF4-FFF2-40B4-BE49-F238E27FC236}">
                <a16:creationId xmlns:a16="http://schemas.microsoft.com/office/drawing/2014/main" id="{1C0F14CA-0987-C170-E570-BBB5D48A51C3}"/>
              </a:ext>
            </a:extLst>
          </p:cNvPr>
          <p:cNvSpPr>
            <a:spLocks noGrp="1"/>
          </p:cNvSpPr>
          <p:nvPr>
            <p:ph sz="half" idx="1"/>
          </p:nvPr>
        </p:nvSpPr>
        <p:spPr>
          <a:xfrm>
            <a:off x="914400" y="2849526"/>
            <a:ext cx="5105400" cy="3210479"/>
          </a:xfrm>
        </p:spPr>
        <p:txBody>
          <a:bodyPr vert="horz" lIns="91440" tIns="45720" rIns="91440" bIns="45720" rtlCol="0" anchor="t">
            <a:normAutofit/>
          </a:bodyPr>
          <a:lstStyle/>
          <a:p>
            <a:pPr marL="285750" indent="-285750"/>
            <a:r>
              <a:rPr lang="en-US" dirty="0"/>
              <a:t>At 2.4 GHz Reflection Coeffici</a:t>
            </a:r>
            <a:r>
              <a:rPr lang="en-US"/>
              <a:t>ent is quite low.</a:t>
            </a:r>
            <a:endParaRPr lang="en-US" dirty="0"/>
          </a:p>
          <a:p>
            <a:pPr marL="285750" indent="-285750"/>
            <a:r>
              <a:rPr lang="en-US" dirty="0"/>
              <a:t>A sweep was not performed becau</a:t>
            </a:r>
            <a:r>
              <a:rPr lang="en-US"/>
              <a:t>se the model is too large to run many tests.</a:t>
            </a:r>
            <a:endParaRPr lang="en-US" dirty="0"/>
          </a:p>
          <a:p>
            <a:endParaRPr lang="en-US"/>
          </a:p>
        </p:txBody>
      </p:sp>
      <p:pic>
        <p:nvPicPr>
          <p:cNvPr id="4" name="Picture 3" descr="A screen shot of a graph&#10;&#10;AI-generated content may be incorrect.">
            <a:extLst>
              <a:ext uri="{FF2B5EF4-FFF2-40B4-BE49-F238E27FC236}">
                <a16:creationId xmlns:a16="http://schemas.microsoft.com/office/drawing/2014/main" id="{D6C69899-A4A5-2931-2A18-C5DDEA5D5F60}"/>
              </a:ext>
            </a:extLst>
          </p:cNvPr>
          <p:cNvPicPr>
            <a:picLocks noChangeAspect="1"/>
          </p:cNvPicPr>
          <p:nvPr/>
        </p:nvPicPr>
        <p:blipFill>
          <a:blip r:embed="rId2"/>
          <a:srcRect t="17081" r="4" b="180"/>
          <a:stretch>
            <a:fillRect/>
          </a:stretch>
        </p:blipFill>
        <p:spPr>
          <a:xfrm>
            <a:off x="6172200" y="2849526"/>
            <a:ext cx="5105400" cy="3210480"/>
          </a:xfrm>
          <a:prstGeom prst="rect">
            <a:avLst/>
          </a:prstGeom>
          <a:noFill/>
        </p:spPr>
      </p:pic>
      <p:sp>
        <p:nvSpPr>
          <p:cNvPr id="9" name="Date Placeholder 4">
            <a:extLst>
              <a:ext uri="{FF2B5EF4-FFF2-40B4-BE49-F238E27FC236}">
                <a16:creationId xmlns:a16="http://schemas.microsoft.com/office/drawing/2014/main" id="{52F83559-AF56-2C81-BE0F-8ABAFF24B3EF}"/>
              </a:ext>
            </a:extLst>
          </p:cNvPr>
          <p:cNvSpPr>
            <a:spLocks noGrp="1"/>
          </p:cNvSpPr>
          <p:nvPr>
            <p:ph type="dt" sz="half" idx="10"/>
          </p:nvPr>
        </p:nvSpPr>
        <p:spPr>
          <a:xfrm>
            <a:off x="912628" y="6356350"/>
            <a:ext cx="2743200" cy="365125"/>
          </a:xfrm>
        </p:spPr>
        <p:txBody>
          <a:bodyPr anchor="ctr">
            <a:normAutofit/>
          </a:bodyPr>
          <a:lstStyle/>
          <a:p>
            <a:pPr>
              <a:spcAft>
                <a:spcPts val="600"/>
              </a:spcAft>
            </a:pPr>
            <a:fld id="{70BAF552-80CD-4A9D-9D42-C5BED3771D53}" type="datetime1">
              <a:rPr lang="en-US"/>
              <a:pPr>
                <a:spcAft>
                  <a:spcPts val="600"/>
                </a:spcAft>
              </a:pPr>
              <a:t>9/21/2026</a:t>
            </a:fld>
            <a:endParaRPr lang="en-US"/>
          </a:p>
        </p:txBody>
      </p:sp>
      <p:sp>
        <p:nvSpPr>
          <p:cNvPr id="11" name="Footer Placeholder 5">
            <a:extLst>
              <a:ext uri="{FF2B5EF4-FFF2-40B4-BE49-F238E27FC236}">
                <a16:creationId xmlns:a16="http://schemas.microsoft.com/office/drawing/2014/main" id="{5786C007-BFC6-4021-4D57-65FBF660B101}"/>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159AFAB0-394A-B0C1-4120-2865336069CF}"/>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25</a:t>
            </a:fld>
            <a:endParaRPr lang="en-US"/>
          </a:p>
        </p:txBody>
      </p:sp>
    </p:spTree>
    <p:extLst>
      <p:ext uri="{BB962C8B-B14F-4D97-AF65-F5344CB8AC3E}">
        <p14:creationId xmlns:p14="http://schemas.microsoft.com/office/powerpoint/2010/main" val="1850997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7502D-EEE3-46EA-BC17-47DE4DC183CE}"/>
              </a:ext>
            </a:extLst>
          </p:cNvPr>
          <p:cNvSpPr>
            <a:spLocks noGrp="1"/>
          </p:cNvSpPr>
          <p:nvPr>
            <p:ph type="title"/>
          </p:nvPr>
        </p:nvSpPr>
        <p:spPr/>
        <p:txBody>
          <a:bodyPr/>
          <a:lstStyle/>
          <a:p>
            <a:r>
              <a:rPr lang="en-US"/>
              <a:t>Sources</a:t>
            </a:r>
          </a:p>
        </p:txBody>
      </p:sp>
      <p:sp>
        <p:nvSpPr>
          <p:cNvPr id="3" name="Content Placeholder 2">
            <a:extLst>
              <a:ext uri="{FF2B5EF4-FFF2-40B4-BE49-F238E27FC236}">
                <a16:creationId xmlns:a16="http://schemas.microsoft.com/office/drawing/2014/main" id="{14CDE352-DE2B-6679-E675-CE66778D90DD}"/>
              </a:ext>
            </a:extLst>
          </p:cNvPr>
          <p:cNvSpPr>
            <a:spLocks noGrp="1"/>
          </p:cNvSpPr>
          <p:nvPr>
            <p:ph idx="1"/>
          </p:nvPr>
        </p:nvSpPr>
        <p:spPr>
          <a:xfrm>
            <a:off x="913517" y="2434994"/>
            <a:ext cx="10364082" cy="3983085"/>
          </a:xfrm>
        </p:spPr>
        <p:txBody>
          <a:bodyPr vert="horz" lIns="91440" tIns="45720" rIns="91440" bIns="45720" rtlCol="0" anchor="t">
            <a:normAutofit fontScale="92500" lnSpcReduction="20000"/>
          </a:bodyPr>
          <a:lstStyle/>
          <a:p>
            <a:pPr marL="0" indent="0">
              <a:buNone/>
            </a:pPr>
            <a:r>
              <a:rPr lang="en-US" sz="1300" dirty="0">
                <a:solidFill>
                  <a:schemeClr val="accent6"/>
                </a:solidFill>
                <a:hlinkClick r:id="rId2">
                  <a:extLst>
                    <a:ext uri="{A12FA001-AC4F-418D-AE19-62706E023703}">
                      <ahyp:hlinkClr xmlns:ahyp="http://schemas.microsoft.com/office/drawing/2018/hyperlinkcolor" val="tx"/>
                    </a:ext>
                  </a:extLst>
                </a:hlinkClick>
              </a:rPr>
              <a:t>PIFA - Planar Inverted-F Antennas</a:t>
            </a:r>
            <a:endParaRPr lang="en-US" sz="1300">
              <a:solidFill>
                <a:schemeClr val="accent6"/>
              </a:solidFill>
            </a:endParaRPr>
          </a:p>
          <a:p>
            <a:r>
              <a:rPr lang="en-US" sz="1300" dirty="0">
                <a:solidFill>
                  <a:schemeClr val="accent6"/>
                </a:solidFill>
                <a:ea typeface="+mn-lt"/>
                <a:cs typeface="+mn-lt"/>
                <a:hlinkClick r:id="rId3">
                  <a:extLst>
                    <a:ext uri="{A12FA001-AC4F-418D-AE19-62706E023703}">
                      <ahyp:hlinkClr xmlns:ahyp="http://schemas.microsoft.com/office/drawing/2018/hyperlinkcolor" val="tx"/>
                    </a:ext>
                  </a:extLst>
                </a:hlinkClick>
              </a:rPr>
              <a:t>https://www.antenna-theory.com/</a:t>
            </a:r>
            <a:endParaRPr lang="en-US" sz="1300">
              <a:solidFill>
                <a:schemeClr val="accent6"/>
              </a:solidFill>
              <a:ea typeface="+mn-lt"/>
              <a:cs typeface="+mn-lt"/>
            </a:endParaRPr>
          </a:p>
          <a:p>
            <a:r>
              <a:rPr lang="en-US" sz="1300" dirty="0">
                <a:solidFill>
                  <a:schemeClr val="accent6"/>
                </a:solidFill>
                <a:ea typeface="+mn-lt"/>
                <a:cs typeface="+mn-lt"/>
                <a:hlinkClick r:id="rId4">
                  <a:extLst>
                    <a:ext uri="{A12FA001-AC4F-418D-AE19-62706E023703}">
                      <ahyp:hlinkClr xmlns:ahyp="http://schemas.microsoft.com/office/drawing/2018/hyperlinkcolor" val="tx"/>
                    </a:ext>
                  </a:extLst>
                </a:hlinkClick>
              </a:rPr>
              <a:t>https://www.sciencedirect.com/topics/engineering/monopole-antenna</a:t>
            </a:r>
            <a:endParaRPr lang="en-US" sz="1300">
              <a:solidFill>
                <a:schemeClr val="accent6"/>
              </a:solidFill>
              <a:ea typeface="+mn-lt"/>
              <a:cs typeface="+mn-lt"/>
            </a:endParaRPr>
          </a:p>
          <a:p>
            <a:r>
              <a:rPr lang="en-US" sz="1300" dirty="0">
                <a:solidFill>
                  <a:schemeClr val="accent6"/>
                </a:solidFill>
                <a:ea typeface="+mn-lt"/>
                <a:cs typeface="+mn-lt"/>
                <a:hlinkClick r:id="rId5">
                  <a:extLst>
                    <a:ext uri="{A12FA001-AC4F-418D-AE19-62706E023703}">
                      <ahyp:hlinkClr xmlns:ahyp="http://schemas.microsoft.com/office/drawing/2018/hyperlinkcolor" val="tx"/>
                    </a:ext>
                  </a:extLst>
                </a:hlinkClick>
              </a:rPr>
              <a:t>https://www.5gtechnologyworld.com/demonstrating-antenna-diversity-part-2-the-pifa/</a:t>
            </a:r>
            <a:endParaRPr lang="en-US" sz="1300">
              <a:solidFill>
                <a:schemeClr val="accent6"/>
              </a:solidFill>
              <a:ea typeface="+mn-lt"/>
              <a:cs typeface="+mn-lt"/>
            </a:endParaRPr>
          </a:p>
          <a:p>
            <a:r>
              <a:rPr lang="en-US" sz="1300" dirty="0">
                <a:solidFill>
                  <a:schemeClr val="accent6"/>
                </a:solidFill>
                <a:ea typeface="+mn-lt"/>
                <a:cs typeface="+mn-lt"/>
                <a:hlinkClick r:id="rId6">
                  <a:extLst>
                    <a:ext uri="{A12FA001-AC4F-418D-AE19-62706E023703}">
                      <ahyp:hlinkClr xmlns:ahyp="http://schemas.microsoft.com/office/drawing/2018/hyperlinkcolor" val="tx"/>
                    </a:ext>
                  </a:extLst>
                </a:hlinkClick>
              </a:rPr>
              <a:t>https://www.researchgate.net/figure/Schematic-diagram-of-the-PIFA-antenna_fig1_216605700</a:t>
            </a:r>
            <a:endParaRPr lang="en-US" sz="1300">
              <a:solidFill>
                <a:schemeClr val="accent6"/>
              </a:solidFill>
              <a:ea typeface="+mn-lt"/>
              <a:cs typeface="+mn-lt"/>
            </a:endParaRPr>
          </a:p>
          <a:p>
            <a:pPr marL="0" indent="0">
              <a:buNone/>
            </a:pPr>
            <a:r>
              <a:rPr lang="en-US" sz="1300" dirty="0">
                <a:solidFill>
                  <a:schemeClr val="accent6"/>
                </a:solidFill>
                <a:ea typeface="+mn-lt"/>
                <a:cs typeface="+mn-lt"/>
                <a:hlinkClick r:id="rId7">
                  <a:extLst>
                    <a:ext uri="{A12FA001-AC4F-418D-AE19-62706E023703}">
                      <ahyp:hlinkClr xmlns:ahyp="http://schemas.microsoft.com/office/drawing/2018/hyperlinkcolor" val="tx"/>
                    </a:ext>
                  </a:extLst>
                </a:hlinkClick>
              </a:rPr>
              <a:t>BLE-guide</a:t>
            </a:r>
            <a:endParaRPr lang="en-US" sz="1300" dirty="0">
              <a:solidFill>
                <a:schemeClr val="accent6"/>
              </a:solidFill>
              <a:ea typeface="+mn-lt"/>
              <a:cs typeface="+mn-lt"/>
            </a:endParaRPr>
          </a:p>
          <a:p>
            <a:r>
              <a:rPr lang="en-US" sz="1300" dirty="0">
                <a:solidFill>
                  <a:schemeClr val="accent6"/>
                </a:solidFill>
                <a:ea typeface="+mn-lt"/>
                <a:cs typeface="+mn-lt"/>
                <a:hlinkClick r:id="rId8">
                  <a:extLst>
                    <a:ext uri="{A12FA001-AC4F-418D-AE19-62706E023703}">
                      <ahyp:hlinkClr xmlns:ahyp="http://schemas.microsoft.com/office/drawing/2018/hyperlinkcolor" val="tx"/>
                    </a:ext>
                  </a:extLst>
                </a:hlinkClick>
              </a:rPr>
              <a:t>https://pubmed.ncbi.nlm.nih.gov/35161734/</a:t>
            </a:r>
            <a:r>
              <a:rPr lang="en-US" sz="1300" dirty="0">
                <a:solidFill>
                  <a:schemeClr val="accent6"/>
                </a:solidFill>
                <a:ea typeface="+mn-lt"/>
                <a:cs typeface="+mn-lt"/>
              </a:rPr>
              <a:t> </a:t>
            </a:r>
            <a:endParaRPr lang="en-US" sz="1300">
              <a:solidFill>
                <a:schemeClr val="accent6"/>
              </a:solidFill>
            </a:endParaRPr>
          </a:p>
          <a:p>
            <a:r>
              <a:rPr lang="en-US" sz="1300" dirty="0">
                <a:solidFill>
                  <a:schemeClr val="accent6"/>
                </a:solidFill>
                <a:ea typeface="+mn-lt"/>
                <a:cs typeface="+mn-lt"/>
                <a:hlinkClick r:id="rId7">
                  <a:extLst>
                    <a:ext uri="{A12FA001-AC4F-418D-AE19-62706E023703}">
                      <ahyp:hlinkClr xmlns:ahyp="http://schemas.microsoft.com/office/drawing/2018/hyperlinkcolor" val="tx"/>
                    </a:ext>
                  </a:extLst>
                </a:hlinkClick>
              </a:rPr>
              <a:t>https://novelbits.io/bluetooth-low-energy-ble-complete-guide/</a:t>
            </a:r>
            <a:endParaRPr lang="en-US" sz="1300">
              <a:solidFill>
                <a:schemeClr val="accent6"/>
              </a:solidFill>
              <a:hlinkClick r:id="" action="ppaction://noaction">
                <a:extLst>
                  <a:ext uri="{A12FA001-AC4F-418D-AE19-62706E023703}">
                    <ahyp:hlinkClr xmlns:ahyp="http://schemas.microsoft.com/office/drawing/2018/hyperlinkcolor" val="tx"/>
                  </a:ext>
                </a:extLst>
              </a:hlinkClick>
            </a:endParaRPr>
          </a:p>
          <a:p>
            <a:r>
              <a:rPr lang="en-US" sz="1300" dirty="0">
                <a:solidFill>
                  <a:schemeClr val="accent6"/>
                </a:solidFill>
                <a:ea typeface="+mn-lt"/>
                <a:cs typeface="+mn-lt"/>
                <a:hlinkClick r:id="rId9">
                  <a:extLst>
                    <a:ext uri="{A12FA001-AC4F-418D-AE19-62706E023703}">
                      <ahyp:hlinkClr xmlns:ahyp="http://schemas.microsoft.com/office/drawing/2018/hyperlinkcolor" val="tx"/>
                    </a:ext>
                  </a:extLst>
                </a:hlinkClick>
              </a:rPr>
              <a:t>https://advanced.onlinelibrary.wiley.com/doi/10.1002/aelm.202400884?af=R</a:t>
            </a:r>
            <a:endParaRPr lang="en-US" sz="1300" dirty="0">
              <a:solidFill>
                <a:schemeClr val="accent6"/>
              </a:solidFill>
              <a:ea typeface="+mn-lt"/>
              <a:cs typeface="+mn-lt"/>
            </a:endParaRPr>
          </a:p>
          <a:p>
            <a:r>
              <a:rPr lang="en-US" sz="1300" dirty="0">
                <a:solidFill>
                  <a:schemeClr val="accent6"/>
                </a:solidFill>
                <a:ea typeface="+mn-lt"/>
                <a:cs typeface="+mn-lt"/>
                <a:hlinkClick r:id="rId10">
                  <a:extLst>
                    <a:ext uri="{A12FA001-AC4F-418D-AE19-62706E023703}">
                      <ahyp:hlinkClr xmlns:ahyp="http://schemas.microsoft.com/office/drawing/2018/hyperlinkcolor" val="tx"/>
                    </a:ext>
                  </a:extLst>
                </a:hlinkClick>
              </a:rPr>
              <a:t>https://www.allaboutcircuits.com/technical-articles/exploring-the-basics-of-bluetooth-low-energy-a-beginners-guide-to-ble/#:~:text=Introduced%20in%202010%20as%20a%20part%20of,they%20used%20up%20too%20much%20battery%20power</a:t>
            </a:r>
            <a:r>
              <a:rPr lang="en-US" sz="1300" dirty="0">
                <a:solidFill>
                  <a:schemeClr val="accent6"/>
                </a:solidFill>
                <a:ea typeface="+mn-lt"/>
                <a:cs typeface="+mn-lt"/>
              </a:rPr>
              <a:t>.</a:t>
            </a:r>
          </a:p>
          <a:p>
            <a:pPr marL="0" indent="0">
              <a:buNone/>
            </a:pPr>
            <a:r>
              <a:rPr lang="en-US" sz="1300">
                <a:solidFill>
                  <a:schemeClr val="accent6"/>
                </a:solidFill>
              </a:rPr>
              <a:t>Electric Properties of Human Tissue</a:t>
            </a:r>
          </a:p>
          <a:p>
            <a:r>
              <a:rPr lang="en-US" sz="1300" dirty="0">
                <a:solidFill>
                  <a:schemeClr val="accent6"/>
                </a:solidFill>
                <a:hlinkClick r:id="rId11">
                  <a:extLst>
                    <a:ext uri="{A12FA001-AC4F-418D-AE19-62706E023703}">
                      <ahyp:hlinkClr xmlns:ahyp="http://schemas.microsoft.com/office/drawing/2018/hyperlinkcolor" val="tx"/>
                    </a:ext>
                  </a:extLst>
                </a:hlinkClick>
              </a:rPr>
              <a:t>https://niremf.ifac.cnr.it/tissprop/htmlclie/htmlclie.php</a:t>
            </a:r>
            <a:endParaRPr lang="en-US" sz="1300">
              <a:solidFill>
                <a:schemeClr val="accent6"/>
              </a:solidFill>
            </a:endParaRPr>
          </a:p>
          <a:p>
            <a:endParaRPr lang="en-US" sz="1500"/>
          </a:p>
          <a:p>
            <a:endParaRPr lang="en-US" sz="1500"/>
          </a:p>
          <a:p>
            <a:endParaRPr lang="en-US"/>
          </a:p>
        </p:txBody>
      </p:sp>
    </p:spTree>
    <p:extLst>
      <p:ext uri="{BB962C8B-B14F-4D97-AF65-F5344CB8AC3E}">
        <p14:creationId xmlns:p14="http://schemas.microsoft.com/office/powerpoint/2010/main" val="1968006999"/>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26</Slides>
  <Notes>1</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DashVTI</vt:lpstr>
      <vt:lpstr>Wearable BLE Heart Monitor PIFA Antenna</vt:lpstr>
      <vt:lpstr>Assumptions and Heart Monitor Considerations</vt:lpstr>
      <vt:lpstr>Bluetooth Low Energy (BLE) Basics</vt:lpstr>
      <vt:lpstr>BLE Protocol</vt:lpstr>
      <vt:lpstr>Bluetooth Low Energy (BLE)</vt:lpstr>
      <vt:lpstr>BLE Protocol Stack</vt:lpstr>
      <vt:lpstr>BLE Protocol Stack</vt:lpstr>
      <vt:lpstr>Design of Wireless-Enabled Wearable Devices</vt:lpstr>
      <vt:lpstr>Monopole Antennas</vt:lpstr>
      <vt:lpstr>PIFA (Planar Inverted F Antenna) Basics</vt:lpstr>
      <vt:lpstr>PIFA Structure</vt:lpstr>
      <vt:lpstr>PIFA Operation</vt:lpstr>
      <vt:lpstr>How Different PIFA Dimensions Affect BW / Frequency</vt:lpstr>
      <vt:lpstr>Capacitive loading to reduce PIFA size</vt:lpstr>
      <vt:lpstr>Initial Design</vt:lpstr>
      <vt:lpstr>Initial Sim Results-Reflection Coefficient </vt:lpstr>
      <vt:lpstr>Initial Sim Results- 3D Gain Pattern </vt:lpstr>
      <vt:lpstr>Second Design</vt:lpstr>
      <vt:lpstr>Final Sim Results - 3D Gain Pattern</vt:lpstr>
      <vt:lpstr>Final Sim Results - 3D Gain Pattern, Underside</vt:lpstr>
      <vt:lpstr>Final Sim Results - Reflection Coefficient​</vt:lpstr>
      <vt:lpstr>Final Values</vt:lpstr>
      <vt:lpstr>Modeling Tissue</vt:lpstr>
      <vt:lpstr>Muscle Sim Results - 3D Gain Pattern</vt:lpstr>
      <vt:lpstr>Muscle Sim Results - Reflection Coefficient</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79</cp:revision>
  <dcterms:created xsi:type="dcterms:W3CDTF">2026-03-24T22:07:25Z</dcterms:created>
  <dcterms:modified xsi:type="dcterms:W3CDTF">2026-09-22T01:39:45Z</dcterms:modified>
</cp:coreProperties>
</file>